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0" r:id="rId7"/>
    <p:sldId id="261" r:id="rId8"/>
    <p:sldId id="263" r:id="rId9"/>
    <p:sldId id="264" r:id="rId10"/>
    <p:sldId id="265" r:id="rId11"/>
    <p:sldId id="266" r:id="rId12"/>
    <p:sldId id="267" r:id="rId13"/>
    <p:sldId id="268" r:id="rId14"/>
    <p:sldId id="270" r:id="rId15"/>
    <p:sldId id="269" r:id="rId1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6" d="100"/>
          <a:sy n="96" d="100"/>
        </p:scale>
        <p:origin x="86"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smtClean="0"/>
              <a:t>마스터 제목 스타일 편집</a:t>
            </a:r>
            <a:endParaRPr lang="ko-KR" altLang="en-US"/>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smtClean="0"/>
              <a:t>클릭하여 마스터 부제목 스타일 편집</a:t>
            </a:r>
            <a:endParaRPr lang="ko-KR" altLang="en-US"/>
          </a:p>
        </p:txBody>
      </p:sp>
      <p:sp>
        <p:nvSpPr>
          <p:cNvPr id="4" name="날짜 개체 틀 3"/>
          <p:cNvSpPr>
            <a:spLocks noGrp="1"/>
          </p:cNvSpPr>
          <p:nvPr>
            <p:ph type="dt" sz="half" idx="10"/>
          </p:nvPr>
        </p:nvSpPr>
        <p:spPr/>
        <p:txBody>
          <a:bodyPr/>
          <a:lstStyle/>
          <a:p>
            <a:fld id="{D49C02C5-3939-4AB1-9735-65146F2162A5}" type="datetimeFigureOut">
              <a:rPr lang="ko-KR" altLang="en-US" smtClean="0"/>
              <a:t>2021-03-03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68BD0D8D-A679-42B6-810F-7DB981D7B274}" type="slidenum">
              <a:rPr lang="ko-KR" altLang="en-US" smtClean="0"/>
              <a:t>‹#›</a:t>
            </a:fld>
            <a:endParaRPr lang="ko-KR" altLang="en-US"/>
          </a:p>
        </p:txBody>
      </p:sp>
    </p:spTree>
    <p:extLst>
      <p:ext uri="{BB962C8B-B14F-4D97-AF65-F5344CB8AC3E}">
        <p14:creationId xmlns:p14="http://schemas.microsoft.com/office/powerpoint/2010/main" val="692011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D49C02C5-3939-4AB1-9735-65146F2162A5}" type="datetimeFigureOut">
              <a:rPr lang="ko-KR" altLang="en-US" smtClean="0"/>
              <a:t>2021-03-03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68BD0D8D-A679-42B6-810F-7DB981D7B274}" type="slidenum">
              <a:rPr lang="ko-KR" altLang="en-US" smtClean="0"/>
              <a:t>‹#›</a:t>
            </a:fld>
            <a:endParaRPr lang="ko-KR" altLang="en-US"/>
          </a:p>
        </p:txBody>
      </p:sp>
    </p:spTree>
    <p:extLst>
      <p:ext uri="{BB962C8B-B14F-4D97-AF65-F5344CB8AC3E}">
        <p14:creationId xmlns:p14="http://schemas.microsoft.com/office/powerpoint/2010/main" val="1065320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smtClean="0"/>
              <a:t>마스터 텍스트 스타일 편집</a:t>
            </a:r>
          </a:p>
        </p:txBody>
      </p:sp>
      <p:sp>
        <p:nvSpPr>
          <p:cNvPr id="4" name="날짜 개체 틀 3"/>
          <p:cNvSpPr>
            <a:spLocks noGrp="1"/>
          </p:cNvSpPr>
          <p:nvPr>
            <p:ph type="dt" sz="half" idx="10"/>
          </p:nvPr>
        </p:nvSpPr>
        <p:spPr/>
        <p:txBody>
          <a:bodyPr/>
          <a:lstStyle/>
          <a:p>
            <a:fld id="{D49C02C5-3939-4AB1-9735-65146F2162A5}" type="datetimeFigureOut">
              <a:rPr lang="ko-KR" altLang="en-US" smtClean="0"/>
              <a:t>2021-03-03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68BD0D8D-A679-42B6-810F-7DB981D7B274}" type="slidenum">
              <a:rPr lang="ko-KR" altLang="en-US" smtClean="0"/>
              <a:t>‹#›</a:t>
            </a:fld>
            <a:endParaRPr lang="ko-KR" altLang="en-US"/>
          </a:p>
        </p:txBody>
      </p:sp>
    </p:spTree>
    <p:extLst>
      <p:ext uri="{BB962C8B-B14F-4D97-AF65-F5344CB8AC3E}">
        <p14:creationId xmlns:p14="http://schemas.microsoft.com/office/powerpoint/2010/main" val="2399993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838200" y="1825625"/>
            <a:ext cx="5181600" cy="435133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6172200" y="1825625"/>
            <a:ext cx="5181600" cy="435133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D49C02C5-3939-4AB1-9735-65146F2162A5}" type="datetimeFigureOut">
              <a:rPr lang="ko-KR" altLang="en-US" smtClean="0"/>
              <a:t>2021-03-03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68BD0D8D-A679-42B6-810F-7DB981D7B274}" type="slidenum">
              <a:rPr lang="ko-KR" altLang="en-US" smtClean="0"/>
              <a:t>‹#›</a:t>
            </a:fld>
            <a:endParaRPr lang="ko-KR" altLang="en-US"/>
          </a:p>
        </p:txBody>
      </p:sp>
    </p:spTree>
    <p:extLst>
      <p:ext uri="{BB962C8B-B14F-4D97-AF65-F5344CB8AC3E}">
        <p14:creationId xmlns:p14="http://schemas.microsoft.com/office/powerpoint/2010/main" val="3424220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D49C02C5-3939-4AB1-9735-65146F2162A5}" type="datetimeFigureOut">
              <a:rPr lang="ko-KR" altLang="en-US" smtClean="0"/>
              <a:t>2021-03-03</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68BD0D8D-A679-42B6-810F-7DB981D7B274}" type="slidenum">
              <a:rPr lang="ko-KR" altLang="en-US" smtClean="0"/>
              <a:t>‹#›</a:t>
            </a:fld>
            <a:endParaRPr lang="ko-KR" altLang="en-US"/>
          </a:p>
        </p:txBody>
      </p:sp>
    </p:spTree>
    <p:extLst>
      <p:ext uri="{BB962C8B-B14F-4D97-AF65-F5344CB8AC3E}">
        <p14:creationId xmlns:p14="http://schemas.microsoft.com/office/powerpoint/2010/main" val="2861110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D49C02C5-3939-4AB1-9735-65146F2162A5}" type="datetimeFigureOut">
              <a:rPr lang="ko-KR" altLang="en-US" smtClean="0"/>
              <a:t>2021-03-03</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68BD0D8D-A679-42B6-810F-7DB981D7B274}" type="slidenum">
              <a:rPr lang="ko-KR" altLang="en-US" smtClean="0"/>
              <a:t>‹#›</a:t>
            </a:fld>
            <a:endParaRPr lang="ko-KR" altLang="en-US"/>
          </a:p>
        </p:txBody>
      </p:sp>
    </p:spTree>
    <p:extLst>
      <p:ext uri="{BB962C8B-B14F-4D97-AF65-F5344CB8AC3E}">
        <p14:creationId xmlns:p14="http://schemas.microsoft.com/office/powerpoint/2010/main" val="1292928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D49C02C5-3939-4AB1-9735-65146F2162A5}" type="datetimeFigureOut">
              <a:rPr lang="ko-KR" altLang="en-US" smtClean="0"/>
              <a:t>2021-03-03</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68BD0D8D-A679-42B6-810F-7DB981D7B274}" type="slidenum">
              <a:rPr lang="ko-KR" altLang="en-US" smtClean="0"/>
              <a:t>‹#›</a:t>
            </a:fld>
            <a:endParaRPr lang="ko-KR" altLang="en-US"/>
          </a:p>
        </p:txBody>
      </p:sp>
    </p:spTree>
    <p:extLst>
      <p:ext uri="{BB962C8B-B14F-4D97-AF65-F5344CB8AC3E}">
        <p14:creationId xmlns:p14="http://schemas.microsoft.com/office/powerpoint/2010/main" val="332038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smtClean="0"/>
              <a:t>마스터 제목 스타일 편집</a:t>
            </a:r>
            <a:endParaRPr lang="ko-KR" altLang="en-US"/>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p>
            <a:fld id="{D49C02C5-3939-4AB1-9735-65146F2162A5}" type="datetimeFigureOut">
              <a:rPr lang="ko-KR" altLang="en-US" smtClean="0"/>
              <a:t>2021-03-03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68BD0D8D-A679-42B6-810F-7DB981D7B274}" type="slidenum">
              <a:rPr lang="ko-KR" altLang="en-US" smtClean="0"/>
              <a:t>‹#›</a:t>
            </a:fld>
            <a:endParaRPr lang="ko-KR" altLang="en-US"/>
          </a:p>
        </p:txBody>
      </p:sp>
    </p:spTree>
    <p:extLst>
      <p:ext uri="{BB962C8B-B14F-4D97-AF65-F5344CB8AC3E}">
        <p14:creationId xmlns:p14="http://schemas.microsoft.com/office/powerpoint/2010/main" val="3590740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p>
            <a:fld id="{D49C02C5-3939-4AB1-9735-65146F2162A5}" type="datetimeFigureOut">
              <a:rPr lang="ko-KR" altLang="en-US" smtClean="0"/>
              <a:t>2021-03-03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68BD0D8D-A679-42B6-810F-7DB981D7B274}" type="slidenum">
              <a:rPr lang="ko-KR" altLang="en-US" smtClean="0"/>
              <a:t>‹#›</a:t>
            </a:fld>
            <a:endParaRPr lang="ko-KR" altLang="en-US"/>
          </a:p>
        </p:txBody>
      </p:sp>
    </p:spTree>
    <p:extLst>
      <p:ext uri="{BB962C8B-B14F-4D97-AF65-F5344CB8AC3E}">
        <p14:creationId xmlns:p14="http://schemas.microsoft.com/office/powerpoint/2010/main" val="597054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D49C02C5-3939-4AB1-9735-65146F2162A5}" type="datetimeFigureOut">
              <a:rPr lang="ko-KR" altLang="en-US" smtClean="0"/>
              <a:t>2021-03-03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68BD0D8D-A679-42B6-810F-7DB981D7B274}" type="slidenum">
              <a:rPr lang="ko-KR" altLang="en-US" smtClean="0"/>
              <a:t>‹#›</a:t>
            </a:fld>
            <a:endParaRPr lang="ko-KR" altLang="en-US"/>
          </a:p>
        </p:txBody>
      </p:sp>
    </p:spTree>
    <p:extLst>
      <p:ext uri="{BB962C8B-B14F-4D97-AF65-F5344CB8AC3E}">
        <p14:creationId xmlns:p14="http://schemas.microsoft.com/office/powerpoint/2010/main" val="3821778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D49C02C5-3939-4AB1-9735-65146F2162A5}" type="datetimeFigureOut">
              <a:rPr lang="ko-KR" altLang="en-US" smtClean="0"/>
              <a:t>2021-03-03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68BD0D8D-A679-42B6-810F-7DB981D7B274}" type="slidenum">
              <a:rPr lang="ko-KR" altLang="en-US" smtClean="0"/>
              <a:t>‹#›</a:t>
            </a:fld>
            <a:endParaRPr lang="ko-KR" altLang="en-US"/>
          </a:p>
        </p:txBody>
      </p:sp>
    </p:spTree>
    <p:extLst>
      <p:ext uri="{BB962C8B-B14F-4D97-AF65-F5344CB8AC3E}">
        <p14:creationId xmlns:p14="http://schemas.microsoft.com/office/powerpoint/2010/main" val="2747317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9C02C5-3939-4AB1-9735-65146F2162A5}" type="datetimeFigureOut">
              <a:rPr lang="ko-KR" altLang="en-US" smtClean="0"/>
              <a:t>2021-03-03</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BD0D8D-A679-42B6-810F-7DB981D7B274}" type="slidenum">
              <a:rPr lang="ko-KR" altLang="en-US" smtClean="0"/>
              <a:t>‹#›</a:t>
            </a:fld>
            <a:endParaRPr lang="ko-KR" altLang="en-US"/>
          </a:p>
        </p:txBody>
      </p:sp>
    </p:spTree>
    <p:extLst>
      <p:ext uri="{BB962C8B-B14F-4D97-AF65-F5344CB8AC3E}">
        <p14:creationId xmlns:p14="http://schemas.microsoft.com/office/powerpoint/2010/main" val="3365345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lstStyle/>
          <a:p>
            <a:r>
              <a:rPr lang="en-US" altLang="ko-KR" dirty="0" smtClean="0">
                <a:latin typeface="Times New Roman" panose="02020603050405020304" pitchFamily="18" charset="0"/>
                <a:cs typeface="Times New Roman" panose="02020603050405020304" pitchFamily="18" charset="0"/>
              </a:rPr>
              <a:t>Deep Learning from Scratch</a:t>
            </a:r>
            <a:endParaRPr lang="ko-KR" altLang="en-US" dirty="0">
              <a:latin typeface="Times New Roman" panose="02020603050405020304" pitchFamily="18" charset="0"/>
              <a:cs typeface="Times New Roman" panose="02020603050405020304" pitchFamily="18" charset="0"/>
            </a:endParaRPr>
          </a:p>
        </p:txBody>
      </p:sp>
      <p:sp>
        <p:nvSpPr>
          <p:cNvPr id="3" name="부제목 2"/>
          <p:cNvSpPr>
            <a:spLocks noGrp="1"/>
          </p:cNvSpPr>
          <p:nvPr>
            <p:ph type="subTitle" idx="1"/>
          </p:nvPr>
        </p:nvSpPr>
        <p:spPr/>
        <p:txBody>
          <a:bodyPr/>
          <a:lstStyle/>
          <a:p>
            <a:r>
              <a:rPr lang="en-US" altLang="ko-KR" dirty="0" err="1" smtClean="0">
                <a:latin typeface="Times New Roman" panose="02020603050405020304" pitchFamily="18" charset="0"/>
                <a:cs typeface="Times New Roman" panose="02020603050405020304" pitchFamily="18" charset="0"/>
              </a:rPr>
              <a:t>Hyojin</a:t>
            </a:r>
            <a:r>
              <a:rPr lang="en-US" altLang="ko-KR" dirty="0" smtClean="0">
                <a:latin typeface="Times New Roman" panose="02020603050405020304" pitchFamily="18" charset="0"/>
                <a:cs typeface="Times New Roman" panose="02020603050405020304" pitchFamily="18" charset="0"/>
              </a:rPr>
              <a:t> Lim</a:t>
            </a:r>
          </a:p>
          <a:p>
            <a:endParaRPr lang="ko-KR" altLang="en-US" dirty="0"/>
          </a:p>
        </p:txBody>
      </p:sp>
    </p:spTree>
    <p:extLst>
      <p:ext uri="{BB962C8B-B14F-4D97-AF65-F5344CB8AC3E}">
        <p14:creationId xmlns:p14="http://schemas.microsoft.com/office/powerpoint/2010/main" val="8720874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latin typeface="Times New Roman" panose="02020603050405020304" pitchFamily="18" charset="0"/>
                <a:cs typeface="Times New Roman" panose="02020603050405020304" pitchFamily="18" charset="0"/>
              </a:rPr>
              <a:t>1. Multilayer Perceptron (MLP)</a:t>
            </a:r>
            <a:endParaRPr lang="ko-KR" altLang="en-US" dirty="0">
              <a:latin typeface="Times New Roman" panose="02020603050405020304" pitchFamily="18" charset="0"/>
              <a:cs typeface="Times New Roman" panose="02020603050405020304" pitchFamily="18" charset="0"/>
            </a:endParaRPr>
          </a:p>
        </p:txBody>
      </p:sp>
      <p:sp>
        <p:nvSpPr>
          <p:cNvPr id="3" name="내용 개체 틀 2"/>
          <p:cNvSpPr>
            <a:spLocks noGrp="1"/>
          </p:cNvSpPr>
          <p:nvPr>
            <p:ph idx="1"/>
          </p:nvPr>
        </p:nvSpPr>
        <p:spPr/>
        <p:txBody>
          <a:bodyPr>
            <a:normAutofit fontScale="85000" lnSpcReduction="10000"/>
          </a:bodyPr>
          <a:lstStyle/>
          <a:p>
            <a:pPr marL="0" indent="0">
              <a:buNone/>
            </a:pPr>
            <a:r>
              <a:rPr lang="en-US" altLang="ko-KR" b="1" dirty="0" smtClean="0">
                <a:latin typeface="Times New Roman" panose="02020603050405020304" pitchFamily="18" charset="0"/>
                <a:cs typeface="Times New Roman" panose="02020603050405020304" pitchFamily="18" charset="0"/>
              </a:rPr>
              <a:t>1.1 Training Data and Batching</a:t>
            </a:r>
          </a:p>
          <a:p>
            <a:pPr marL="0" indent="0">
              <a:buNone/>
            </a:pPr>
            <a:r>
              <a:rPr lang="en-US" altLang="ko-KR" sz="1800" dirty="0" smtClean="0">
                <a:latin typeface="Times New Roman" panose="02020603050405020304" pitchFamily="18" charset="0"/>
                <a:cs typeface="Times New Roman" panose="02020603050405020304" pitchFamily="18" charset="0"/>
              </a:rPr>
              <a:t>The model was trained on MNIST data set that consists of  8,000 train sets and 2,000 test sets. Each training batch contains 100 image data in the size of 784 (28×28). 200 epochs are executed.</a:t>
            </a:r>
          </a:p>
          <a:p>
            <a:pPr marL="0" indent="0">
              <a:buNone/>
            </a:pPr>
            <a:endParaRPr lang="en-US" altLang="ko-KR" sz="1800" b="1" dirty="0">
              <a:latin typeface="Times New Roman" panose="02020603050405020304" pitchFamily="18" charset="0"/>
              <a:cs typeface="Times New Roman" panose="02020603050405020304" pitchFamily="18" charset="0"/>
            </a:endParaRPr>
          </a:p>
          <a:p>
            <a:pPr marL="0" indent="0">
              <a:buNone/>
            </a:pPr>
            <a:r>
              <a:rPr lang="en-US" altLang="ko-KR" b="1" dirty="0" smtClean="0">
                <a:latin typeface="Times New Roman" panose="02020603050405020304" pitchFamily="18" charset="0"/>
                <a:cs typeface="Times New Roman" panose="02020603050405020304" pitchFamily="18" charset="0"/>
              </a:rPr>
              <a:t>1.2 Optimizer</a:t>
            </a:r>
          </a:p>
          <a:p>
            <a:pPr marL="0" indent="0">
              <a:buNone/>
            </a:pPr>
            <a:r>
              <a:rPr lang="en-US" altLang="ko-KR" sz="1800" dirty="0" smtClean="0">
                <a:latin typeface="Times New Roman" panose="02020603050405020304" pitchFamily="18" charset="0"/>
                <a:cs typeface="Times New Roman" panose="02020603050405020304" pitchFamily="18" charset="0"/>
              </a:rPr>
              <a:t>The base model used stochastic gradient descent (SGD) with ŋ=0.01.</a:t>
            </a:r>
          </a:p>
          <a:p>
            <a:pPr marL="0" indent="0">
              <a:buNone/>
            </a:pPr>
            <a:endParaRPr lang="en-US" altLang="ko-KR" b="1" dirty="0">
              <a:latin typeface="Times New Roman" panose="02020603050405020304" pitchFamily="18" charset="0"/>
              <a:cs typeface="Times New Roman" panose="02020603050405020304" pitchFamily="18" charset="0"/>
            </a:endParaRPr>
          </a:p>
          <a:p>
            <a:pPr marL="0" indent="0">
              <a:buNone/>
            </a:pPr>
            <a:r>
              <a:rPr lang="en-US" altLang="ko-KR" b="1" dirty="0" smtClean="0">
                <a:latin typeface="Times New Roman" panose="02020603050405020304" pitchFamily="18" charset="0"/>
                <a:cs typeface="Times New Roman" panose="02020603050405020304" pitchFamily="18" charset="0"/>
              </a:rPr>
              <a:t>1.3 Regularization</a:t>
            </a:r>
          </a:p>
          <a:p>
            <a:pPr marL="0" indent="0">
              <a:buNone/>
            </a:pPr>
            <a:r>
              <a:rPr lang="en-US" altLang="ko-KR" sz="1800" dirty="0" smtClean="0">
                <a:latin typeface="Times New Roman" panose="02020603050405020304" pitchFamily="18" charset="0"/>
                <a:cs typeface="Times New Roman" panose="02020603050405020304" pitchFamily="18" charset="0"/>
              </a:rPr>
              <a:t>Three methods of regularization is employed in the variations of the base model:</a:t>
            </a:r>
          </a:p>
          <a:p>
            <a:pPr marL="0" indent="0">
              <a:buNone/>
            </a:pPr>
            <a:endParaRPr lang="en-US" altLang="ko-KR" sz="1800" dirty="0" smtClean="0">
              <a:latin typeface="Times New Roman" panose="02020603050405020304" pitchFamily="18" charset="0"/>
              <a:cs typeface="Times New Roman" panose="02020603050405020304" pitchFamily="18" charset="0"/>
            </a:endParaRPr>
          </a:p>
          <a:p>
            <a:pPr marL="0" indent="0">
              <a:buNone/>
            </a:pPr>
            <a:r>
              <a:rPr lang="en-US" altLang="ko-KR" sz="1800" b="1" dirty="0" smtClean="0">
                <a:latin typeface="Times New Roman" panose="02020603050405020304" pitchFamily="18" charset="0"/>
                <a:cs typeface="Times New Roman" panose="02020603050405020304" pitchFamily="18" charset="0"/>
              </a:rPr>
              <a:t>Dropout </a:t>
            </a:r>
            <a:r>
              <a:rPr lang="en-US" altLang="ko-KR" sz="1800" dirty="0" err="1" smtClean="0">
                <a:latin typeface="Times New Roman" panose="02020603050405020304" pitchFamily="18" charset="0"/>
                <a:cs typeface="Times New Roman" panose="02020603050405020304" pitchFamily="18" charset="0"/>
              </a:rPr>
              <a:t>Dropout</a:t>
            </a:r>
            <a:r>
              <a:rPr lang="en-US" altLang="ko-KR" sz="1800" dirty="0" smtClean="0">
                <a:latin typeface="Times New Roman" panose="02020603050405020304" pitchFamily="18" charset="0"/>
                <a:cs typeface="Times New Roman" panose="02020603050405020304" pitchFamily="18" charset="0"/>
              </a:rPr>
              <a:t> is applied after the activation function of each layer.</a:t>
            </a:r>
          </a:p>
          <a:p>
            <a:pPr marL="0" indent="0">
              <a:buNone/>
            </a:pPr>
            <a:r>
              <a:rPr lang="en-US" altLang="ko-KR" sz="1800" b="1" dirty="0" smtClean="0">
                <a:latin typeface="Times New Roman" panose="02020603050405020304" pitchFamily="18" charset="0"/>
                <a:cs typeface="Times New Roman" panose="02020603050405020304" pitchFamily="18" charset="0"/>
              </a:rPr>
              <a:t>L2 Regularization </a:t>
            </a:r>
            <a:r>
              <a:rPr lang="en-US" altLang="ko-KR" sz="1800" dirty="0" smtClean="0">
                <a:latin typeface="Times New Roman" panose="02020603050405020304" pitchFamily="18" charset="0"/>
                <a:cs typeface="Times New Roman" panose="02020603050405020304" pitchFamily="18" charset="0"/>
              </a:rPr>
              <a:t>While the base model has no regularizations, the varied models are regularized with L2 norm of </a:t>
            </a:r>
            <a:r>
              <a:rPr lang="el-GR" altLang="ko-KR" sz="1800" dirty="0" smtClean="0">
                <a:latin typeface="Times New Roman" panose="02020603050405020304" pitchFamily="18" charset="0"/>
                <a:cs typeface="Times New Roman" panose="02020603050405020304" pitchFamily="18" charset="0"/>
              </a:rPr>
              <a:t>λ</a:t>
            </a:r>
            <a:r>
              <a:rPr lang="en-US" altLang="ko-KR" sz="1800" dirty="0" smtClean="0">
                <a:latin typeface="Times New Roman" panose="02020603050405020304" pitchFamily="18" charset="0"/>
                <a:cs typeface="Times New Roman" panose="02020603050405020304" pitchFamily="18" charset="0"/>
              </a:rPr>
              <a:t>=0.1 or 0.01.</a:t>
            </a:r>
          </a:p>
          <a:p>
            <a:pPr marL="0" indent="0">
              <a:buNone/>
            </a:pPr>
            <a:r>
              <a:rPr lang="en-US" altLang="ko-KR" sz="1800" b="1" dirty="0" smtClean="0">
                <a:latin typeface="Times New Roman" panose="02020603050405020304" pitchFamily="18" charset="0"/>
                <a:cs typeface="Times New Roman" panose="02020603050405020304" pitchFamily="18" charset="0"/>
              </a:rPr>
              <a:t>Batch Normalization</a:t>
            </a:r>
            <a:r>
              <a:rPr lang="en-US" altLang="ko-KR" sz="1800" dirty="0" smtClean="0">
                <a:latin typeface="Times New Roman" panose="02020603050405020304" pitchFamily="18" charset="0"/>
                <a:cs typeface="Times New Roman" panose="02020603050405020304" pitchFamily="18" charset="0"/>
              </a:rPr>
              <a:t> Batch normalization is added before the activation layer and the dropout layer in the varied model.</a:t>
            </a:r>
          </a:p>
          <a:p>
            <a:pPr marL="0" indent="0">
              <a:buNone/>
            </a:pPr>
            <a:endParaRPr lang="en-US" altLang="ko-KR" b="1" dirty="0" smtClean="0">
              <a:latin typeface="Times New Roman" panose="02020603050405020304" pitchFamily="18" charset="0"/>
              <a:cs typeface="Times New Roman" panose="02020603050405020304" pitchFamily="18" charset="0"/>
            </a:endParaRPr>
          </a:p>
          <a:p>
            <a:pPr marL="0" indent="0">
              <a:buNone/>
            </a:pPr>
            <a:endParaRPr lang="en-US" altLang="ko-KR" b="1" dirty="0" smtClean="0">
              <a:latin typeface="Times New Roman" panose="02020603050405020304" pitchFamily="18" charset="0"/>
              <a:cs typeface="Times New Roman" panose="02020603050405020304" pitchFamily="18" charset="0"/>
            </a:endParaRPr>
          </a:p>
          <a:p>
            <a:pPr marL="0" indent="0">
              <a:buNone/>
            </a:pPr>
            <a:endParaRPr lang="en-US" altLang="ko-KR" sz="1800" b="1" dirty="0" smtClean="0">
              <a:latin typeface="Times New Roman" panose="02020603050405020304" pitchFamily="18" charset="0"/>
              <a:cs typeface="Times New Roman" panose="02020603050405020304" pitchFamily="18" charset="0"/>
            </a:endParaRPr>
          </a:p>
          <a:p>
            <a:pPr marL="0" indent="0">
              <a:buNone/>
            </a:pPr>
            <a:endParaRPr lang="en-US" altLang="ko-KR" sz="1800" b="1" dirty="0">
              <a:latin typeface="Times New Roman" panose="02020603050405020304" pitchFamily="18" charset="0"/>
              <a:cs typeface="Times New Roman" panose="02020603050405020304" pitchFamily="18" charset="0"/>
            </a:endParaRPr>
          </a:p>
          <a:p>
            <a:pPr marL="0" indent="0">
              <a:buNone/>
            </a:pPr>
            <a:endParaRPr lang="en-US" altLang="ko-KR" sz="1800" b="1" dirty="0">
              <a:latin typeface="Times New Roman" panose="02020603050405020304" pitchFamily="18" charset="0"/>
              <a:cs typeface="Times New Roman" panose="02020603050405020304" pitchFamily="18" charset="0"/>
            </a:endParaRPr>
          </a:p>
          <a:p>
            <a:pPr marL="0" indent="0">
              <a:buNone/>
            </a:pPr>
            <a:endParaRPr lang="ko-KR"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39575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내용 개체 틀 6"/>
          <p:cNvGraphicFramePr>
            <a:graphicFrameLocks noGrp="1"/>
          </p:cNvGraphicFramePr>
          <p:nvPr>
            <p:ph idx="1"/>
            <p:extLst>
              <p:ext uri="{D42A27DB-BD31-4B8C-83A1-F6EECF244321}">
                <p14:modId xmlns:p14="http://schemas.microsoft.com/office/powerpoint/2010/main" val="1568758625"/>
              </p:ext>
            </p:extLst>
          </p:nvPr>
        </p:nvGraphicFramePr>
        <p:xfrm>
          <a:off x="1319916" y="1463042"/>
          <a:ext cx="9422297" cy="4320473"/>
        </p:xfrm>
        <a:graphic>
          <a:graphicData uri="http://schemas.openxmlformats.org/drawingml/2006/table">
            <a:tbl>
              <a:tblPr firstRow="1" firstCol="1" bandRow="1"/>
              <a:tblGrid>
                <a:gridCol w="1081022">
                  <a:extLst>
                    <a:ext uri="{9D8B030D-6E8A-4147-A177-3AD203B41FA5}">
                      <a16:colId xmlns:a16="http://schemas.microsoft.com/office/drawing/2014/main" val="531868348"/>
                    </a:ext>
                  </a:extLst>
                </a:gridCol>
                <a:gridCol w="1009470">
                  <a:extLst>
                    <a:ext uri="{9D8B030D-6E8A-4147-A177-3AD203B41FA5}">
                      <a16:colId xmlns:a16="http://schemas.microsoft.com/office/drawing/2014/main" val="853186500"/>
                    </a:ext>
                  </a:extLst>
                </a:gridCol>
                <a:gridCol w="1009470">
                  <a:extLst>
                    <a:ext uri="{9D8B030D-6E8A-4147-A177-3AD203B41FA5}">
                      <a16:colId xmlns:a16="http://schemas.microsoft.com/office/drawing/2014/main" val="822113128"/>
                    </a:ext>
                  </a:extLst>
                </a:gridCol>
                <a:gridCol w="1009470">
                  <a:extLst>
                    <a:ext uri="{9D8B030D-6E8A-4147-A177-3AD203B41FA5}">
                      <a16:colId xmlns:a16="http://schemas.microsoft.com/office/drawing/2014/main" val="3910926616"/>
                    </a:ext>
                  </a:extLst>
                </a:gridCol>
                <a:gridCol w="1009470">
                  <a:extLst>
                    <a:ext uri="{9D8B030D-6E8A-4147-A177-3AD203B41FA5}">
                      <a16:colId xmlns:a16="http://schemas.microsoft.com/office/drawing/2014/main" val="3625376324"/>
                    </a:ext>
                  </a:extLst>
                </a:gridCol>
                <a:gridCol w="1010332">
                  <a:extLst>
                    <a:ext uri="{9D8B030D-6E8A-4147-A177-3AD203B41FA5}">
                      <a16:colId xmlns:a16="http://schemas.microsoft.com/office/drawing/2014/main" val="30770275"/>
                    </a:ext>
                  </a:extLst>
                </a:gridCol>
                <a:gridCol w="1272399">
                  <a:extLst>
                    <a:ext uri="{9D8B030D-6E8A-4147-A177-3AD203B41FA5}">
                      <a16:colId xmlns:a16="http://schemas.microsoft.com/office/drawing/2014/main" val="4270831687"/>
                    </a:ext>
                  </a:extLst>
                </a:gridCol>
                <a:gridCol w="1272399">
                  <a:extLst>
                    <a:ext uri="{9D8B030D-6E8A-4147-A177-3AD203B41FA5}">
                      <a16:colId xmlns:a16="http://schemas.microsoft.com/office/drawing/2014/main" val="3493017003"/>
                    </a:ext>
                  </a:extLst>
                </a:gridCol>
                <a:gridCol w="748265">
                  <a:extLst>
                    <a:ext uri="{9D8B030D-6E8A-4147-A177-3AD203B41FA5}">
                      <a16:colId xmlns:a16="http://schemas.microsoft.com/office/drawing/2014/main" val="2142750363"/>
                    </a:ext>
                  </a:extLst>
                </a:gridCol>
              </a:tblGrid>
              <a:tr h="397563">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h</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CSongGB18030C-Light" panose="020A0304000101010101" pitchFamily="18" charset="-122"/>
                          <a:cs typeface="Times New Roman" panose="02020603050405020304" pitchFamily="18" charset="0"/>
                        </a:rPr>
                        <a:t>d</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lr</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w</a:t>
                      </a: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 </a:t>
                      </a: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(L2)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test acc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5427518"/>
                  </a:ext>
                </a:extLst>
              </a:tr>
              <a:tr h="220441">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base</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6</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SGD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0.01</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80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214.998</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0.921</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4695938"/>
                  </a:ext>
                </a:extLst>
              </a:tr>
              <a:tr h="303878">
                <a:tc rowSpan="3">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(A)</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265.679</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0.915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51849100"/>
                  </a:ext>
                </a:extLst>
              </a:tr>
              <a:tr h="303878">
                <a:tc vMerge="1">
                  <a:txBody>
                    <a:bodyPr/>
                    <a:lstStyle/>
                    <a:p>
                      <a:pPr latinLnBrk="1"/>
                      <a:endParaRPr lang="ko-KR" altLang="en-US"/>
                    </a:p>
                  </a:txBody>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289.215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0.883</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89647874"/>
                  </a:ext>
                </a:extLst>
              </a:tr>
              <a:tr h="303878">
                <a:tc vMerge="1">
                  <a:txBody>
                    <a:bodyPr/>
                    <a:lstStyle/>
                    <a:p>
                      <a:pPr latinLnBrk="1"/>
                      <a:endParaRPr lang="ko-KR" altLang="en-US"/>
                    </a:p>
                  </a:txBody>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12</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333.743</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0.643</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2831464"/>
                  </a:ext>
                </a:extLst>
              </a:tr>
              <a:tr h="311604">
                <a:tc rowSpan="2">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(B)</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209.699</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0.303</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788144008"/>
                  </a:ext>
                </a:extLst>
              </a:tr>
              <a:tr h="311604">
                <a:tc vMerge="1">
                  <a:txBody>
                    <a:bodyPr/>
                    <a:lstStyle/>
                    <a:p>
                      <a:pPr latinLnBrk="1"/>
                      <a:endParaRPr lang="ko-KR" altLang="en-US"/>
                    </a:p>
                  </a:txBody>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0.8</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210.114</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0.117</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8009853"/>
                  </a:ext>
                </a:extLst>
              </a:tr>
              <a:tr h="303878">
                <a:tc rowSpan="4">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0.01</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234.604</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0.898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863210053"/>
                  </a:ext>
                </a:extLst>
              </a:tr>
              <a:tr h="303878">
                <a:tc vMerge="1">
                  <a:txBody>
                    <a:bodyPr/>
                    <a:lstStyle/>
                    <a:p>
                      <a:pPr latinLnBrk="1"/>
                      <a:endParaRPr lang="ko-KR" altLang="en-US"/>
                    </a:p>
                  </a:txBody>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0.001</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227.640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0.936</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987015544"/>
                  </a:ext>
                </a:extLst>
              </a:tr>
              <a:tr h="303878">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RMSprop</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0.01</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204.850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0.896</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45061161"/>
                  </a:ext>
                </a:extLst>
              </a:tr>
              <a:tr h="303878">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0.001</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213.574</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b="1" kern="100" dirty="0">
                          <a:effectLst/>
                          <a:latin typeface="Times New Roman" panose="02020603050405020304" pitchFamily="18" charset="0"/>
                          <a:ea typeface="맑은 고딕" panose="020B0503020000020004" pitchFamily="50" charset="-127"/>
                          <a:cs typeface="Times New Roman" panose="02020603050405020304" pitchFamily="18" charset="0"/>
                        </a:rPr>
                        <a:t>0.947</a:t>
                      </a:r>
                      <a:endParaRPr lang="ko-KR" sz="1600" b="1"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0409229"/>
                  </a:ext>
                </a:extLst>
              </a:tr>
              <a:tr h="303878">
                <a:tc rowSpan="2">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0.1</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196.304</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0.117</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111903407"/>
                  </a:ext>
                </a:extLst>
              </a:tr>
              <a:tr h="303878">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0.01</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205.551</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0.908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3773353"/>
                  </a:ext>
                </a:extLst>
              </a:tr>
              <a:tr h="303878">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(E)</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use batch normalization</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260.922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0.930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582473"/>
                  </a:ext>
                </a:extLst>
              </a:tr>
            </a:tbl>
          </a:graphicData>
        </a:graphic>
      </p:graphicFrame>
      <p:pic>
        <p:nvPicPr>
          <p:cNvPr id="8" name="내용 개체 틀 3"/>
          <p:cNvPicPr>
            <a:picLocks noChangeAspect="1"/>
          </p:cNvPicPr>
          <p:nvPr/>
        </p:nvPicPr>
        <p:blipFill>
          <a:blip r:embed="rId2"/>
          <a:stretch>
            <a:fillRect/>
          </a:stretch>
        </p:blipFill>
        <p:spPr>
          <a:xfrm>
            <a:off x="1319915" y="652008"/>
            <a:ext cx="9422297" cy="690416"/>
          </a:xfrm>
          <a:prstGeom prst="rect">
            <a:avLst/>
          </a:prstGeom>
        </p:spPr>
      </p:pic>
    </p:spTree>
    <p:extLst>
      <p:ext uri="{BB962C8B-B14F-4D97-AF65-F5344CB8AC3E}">
        <p14:creationId xmlns:p14="http://schemas.microsoft.com/office/powerpoint/2010/main" val="34322800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내용 개체 틀 5"/>
          <p:cNvPicPr>
            <a:picLocks noGrp="1" noChangeAspect="1"/>
          </p:cNvPicPr>
          <p:nvPr>
            <p:ph idx="1"/>
          </p:nvPr>
        </p:nvPicPr>
        <p:blipFill>
          <a:blip r:embed="rId2"/>
          <a:stretch>
            <a:fillRect/>
          </a:stretch>
        </p:blipFill>
        <p:spPr>
          <a:xfrm>
            <a:off x="668715" y="191080"/>
            <a:ext cx="5048272" cy="3474471"/>
          </a:xfrm>
          <a:prstGeom prst="rect">
            <a:avLst/>
          </a:prstGeom>
        </p:spPr>
      </p:pic>
      <p:graphicFrame>
        <p:nvGraphicFramePr>
          <p:cNvPr id="8" name="표 7"/>
          <p:cNvGraphicFramePr>
            <a:graphicFrameLocks noGrp="1"/>
          </p:cNvGraphicFramePr>
          <p:nvPr>
            <p:extLst>
              <p:ext uri="{D42A27DB-BD31-4B8C-83A1-F6EECF244321}">
                <p14:modId xmlns:p14="http://schemas.microsoft.com/office/powerpoint/2010/main" val="2637105607"/>
              </p:ext>
            </p:extLst>
          </p:nvPr>
        </p:nvGraphicFramePr>
        <p:xfrm>
          <a:off x="989174" y="4063114"/>
          <a:ext cx="10126749" cy="736698"/>
        </p:xfrm>
        <a:graphic>
          <a:graphicData uri="http://schemas.openxmlformats.org/drawingml/2006/table">
            <a:tbl>
              <a:tblPr firstRow="1" firstCol="1" bandRow="1"/>
              <a:tblGrid>
                <a:gridCol w="1076546">
                  <a:extLst>
                    <a:ext uri="{9D8B030D-6E8A-4147-A177-3AD203B41FA5}">
                      <a16:colId xmlns:a16="http://schemas.microsoft.com/office/drawing/2014/main" val="3019839750"/>
                    </a:ext>
                  </a:extLst>
                </a:gridCol>
                <a:gridCol w="1005292">
                  <a:extLst>
                    <a:ext uri="{9D8B030D-6E8A-4147-A177-3AD203B41FA5}">
                      <a16:colId xmlns:a16="http://schemas.microsoft.com/office/drawing/2014/main" val="2964602788"/>
                    </a:ext>
                  </a:extLst>
                </a:gridCol>
                <a:gridCol w="1005292">
                  <a:extLst>
                    <a:ext uri="{9D8B030D-6E8A-4147-A177-3AD203B41FA5}">
                      <a16:colId xmlns:a16="http://schemas.microsoft.com/office/drawing/2014/main" val="3388629513"/>
                    </a:ext>
                  </a:extLst>
                </a:gridCol>
                <a:gridCol w="1005292">
                  <a:extLst>
                    <a:ext uri="{9D8B030D-6E8A-4147-A177-3AD203B41FA5}">
                      <a16:colId xmlns:a16="http://schemas.microsoft.com/office/drawing/2014/main" val="2885350067"/>
                    </a:ext>
                  </a:extLst>
                </a:gridCol>
                <a:gridCol w="1005292">
                  <a:extLst>
                    <a:ext uri="{9D8B030D-6E8A-4147-A177-3AD203B41FA5}">
                      <a16:colId xmlns:a16="http://schemas.microsoft.com/office/drawing/2014/main" val="2344457273"/>
                    </a:ext>
                  </a:extLst>
                </a:gridCol>
                <a:gridCol w="1005292">
                  <a:extLst>
                    <a:ext uri="{9D8B030D-6E8A-4147-A177-3AD203B41FA5}">
                      <a16:colId xmlns:a16="http://schemas.microsoft.com/office/drawing/2014/main" val="64884346"/>
                    </a:ext>
                  </a:extLst>
                </a:gridCol>
                <a:gridCol w="1005292">
                  <a:extLst>
                    <a:ext uri="{9D8B030D-6E8A-4147-A177-3AD203B41FA5}">
                      <a16:colId xmlns:a16="http://schemas.microsoft.com/office/drawing/2014/main" val="647488861"/>
                    </a:ext>
                  </a:extLst>
                </a:gridCol>
                <a:gridCol w="1006150">
                  <a:extLst>
                    <a:ext uri="{9D8B030D-6E8A-4147-A177-3AD203B41FA5}">
                      <a16:colId xmlns:a16="http://schemas.microsoft.com/office/drawing/2014/main" val="620260958"/>
                    </a:ext>
                  </a:extLst>
                </a:gridCol>
                <a:gridCol w="1267131">
                  <a:extLst>
                    <a:ext uri="{9D8B030D-6E8A-4147-A177-3AD203B41FA5}">
                      <a16:colId xmlns:a16="http://schemas.microsoft.com/office/drawing/2014/main" val="32030848"/>
                    </a:ext>
                  </a:extLst>
                </a:gridCol>
                <a:gridCol w="745170">
                  <a:extLst>
                    <a:ext uri="{9D8B030D-6E8A-4147-A177-3AD203B41FA5}">
                      <a16:colId xmlns:a16="http://schemas.microsoft.com/office/drawing/2014/main" val="4224660559"/>
                    </a:ext>
                  </a:extLst>
                </a:gridCol>
              </a:tblGrid>
              <a:tr h="381665">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CSongGB18030C-Light" panose="020A0304000101010101" pitchFamily="18" charset="-122"/>
                          <a:cs typeface="Times New Roman" panose="02020603050405020304" pitchFamily="18" charset="0"/>
                        </a:rPr>
                        <a:t>h</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err="1">
                          <a:effectLst/>
                          <a:latin typeface="Times New Roman" panose="02020603050405020304" pitchFamily="18" charset="0"/>
                          <a:ea typeface="CSongGB18030C-Light" panose="020A0304000101010101" pitchFamily="18" charset="-122"/>
                          <a:cs typeface="Times New Roman" panose="02020603050405020304" pitchFamily="18" charset="0"/>
                        </a:rPr>
                        <a:t>lr</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w</a:t>
                      </a:r>
                      <a:r>
                        <a:rPr lang="en-US" sz="1600" i="1" kern="100" dirty="0">
                          <a:effectLst/>
                          <a:latin typeface="Times New Roman" panose="02020603050405020304" pitchFamily="18" charset="0"/>
                          <a:ea typeface="CSongGB18030C-Light" panose="020A0304000101010101" pitchFamily="18" charset="-122"/>
                          <a:cs typeface="Times New Roman" panose="02020603050405020304" pitchFamily="18" charset="0"/>
                        </a:rPr>
                        <a:t> </a:t>
                      </a: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(L2)</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BN</a:t>
                      </a:r>
                      <a:endParaRPr lang="ko-KR" sz="16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test </a:t>
                      </a:r>
                      <a:r>
                        <a:rPr lang="en-US" sz="1600" kern="100" dirty="0" err="1">
                          <a:effectLst/>
                          <a:latin typeface="Times New Roman" panose="02020603050405020304" pitchFamily="18" charset="0"/>
                          <a:ea typeface="맑은 고딕" panose="020B0503020000020004" pitchFamily="50" charset="-127"/>
                          <a:cs typeface="Times New Roman" panose="02020603050405020304" pitchFamily="18" charset="0"/>
                        </a:rPr>
                        <a:t>acc</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724605"/>
                  </a:ext>
                </a:extLst>
              </a:tr>
              <a:tr h="355033">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base</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6</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SGD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0.01</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False</a:t>
                      </a:r>
                      <a:endParaRPr lang="ko-KR" sz="16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80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214.998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0.921</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571725"/>
                  </a:ext>
                </a:extLst>
              </a:tr>
            </a:tbl>
          </a:graphicData>
        </a:graphic>
      </p:graphicFrame>
      <p:graphicFrame>
        <p:nvGraphicFramePr>
          <p:cNvPr id="11" name="표 10"/>
          <p:cNvGraphicFramePr>
            <a:graphicFrameLocks noGrp="1"/>
          </p:cNvGraphicFramePr>
          <p:nvPr>
            <p:extLst>
              <p:ext uri="{D42A27DB-BD31-4B8C-83A1-F6EECF244321}">
                <p14:modId xmlns:p14="http://schemas.microsoft.com/office/powerpoint/2010/main" val="3414872354"/>
              </p:ext>
            </p:extLst>
          </p:nvPr>
        </p:nvGraphicFramePr>
        <p:xfrm>
          <a:off x="989174" y="5177622"/>
          <a:ext cx="10126749" cy="711519"/>
        </p:xfrm>
        <a:graphic>
          <a:graphicData uri="http://schemas.openxmlformats.org/drawingml/2006/table">
            <a:tbl>
              <a:tblPr firstRow="1" firstCol="1" bandRow="1"/>
              <a:tblGrid>
                <a:gridCol w="1076546">
                  <a:extLst>
                    <a:ext uri="{9D8B030D-6E8A-4147-A177-3AD203B41FA5}">
                      <a16:colId xmlns:a16="http://schemas.microsoft.com/office/drawing/2014/main" val="3019839750"/>
                    </a:ext>
                  </a:extLst>
                </a:gridCol>
                <a:gridCol w="1005292">
                  <a:extLst>
                    <a:ext uri="{9D8B030D-6E8A-4147-A177-3AD203B41FA5}">
                      <a16:colId xmlns:a16="http://schemas.microsoft.com/office/drawing/2014/main" val="2964602788"/>
                    </a:ext>
                  </a:extLst>
                </a:gridCol>
                <a:gridCol w="1005292">
                  <a:extLst>
                    <a:ext uri="{9D8B030D-6E8A-4147-A177-3AD203B41FA5}">
                      <a16:colId xmlns:a16="http://schemas.microsoft.com/office/drawing/2014/main" val="3388629513"/>
                    </a:ext>
                  </a:extLst>
                </a:gridCol>
                <a:gridCol w="1005292">
                  <a:extLst>
                    <a:ext uri="{9D8B030D-6E8A-4147-A177-3AD203B41FA5}">
                      <a16:colId xmlns:a16="http://schemas.microsoft.com/office/drawing/2014/main" val="2885350067"/>
                    </a:ext>
                  </a:extLst>
                </a:gridCol>
                <a:gridCol w="1005292">
                  <a:extLst>
                    <a:ext uri="{9D8B030D-6E8A-4147-A177-3AD203B41FA5}">
                      <a16:colId xmlns:a16="http://schemas.microsoft.com/office/drawing/2014/main" val="2344457273"/>
                    </a:ext>
                  </a:extLst>
                </a:gridCol>
                <a:gridCol w="1005292">
                  <a:extLst>
                    <a:ext uri="{9D8B030D-6E8A-4147-A177-3AD203B41FA5}">
                      <a16:colId xmlns:a16="http://schemas.microsoft.com/office/drawing/2014/main" val="64884346"/>
                    </a:ext>
                  </a:extLst>
                </a:gridCol>
                <a:gridCol w="1005292">
                  <a:extLst>
                    <a:ext uri="{9D8B030D-6E8A-4147-A177-3AD203B41FA5}">
                      <a16:colId xmlns:a16="http://schemas.microsoft.com/office/drawing/2014/main" val="647488861"/>
                    </a:ext>
                  </a:extLst>
                </a:gridCol>
                <a:gridCol w="1006150">
                  <a:extLst>
                    <a:ext uri="{9D8B030D-6E8A-4147-A177-3AD203B41FA5}">
                      <a16:colId xmlns:a16="http://schemas.microsoft.com/office/drawing/2014/main" val="620260958"/>
                    </a:ext>
                  </a:extLst>
                </a:gridCol>
                <a:gridCol w="1267131">
                  <a:extLst>
                    <a:ext uri="{9D8B030D-6E8A-4147-A177-3AD203B41FA5}">
                      <a16:colId xmlns:a16="http://schemas.microsoft.com/office/drawing/2014/main" val="32030848"/>
                    </a:ext>
                  </a:extLst>
                </a:gridCol>
                <a:gridCol w="745170">
                  <a:extLst>
                    <a:ext uri="{9D8B030D-6E8A-4147-A177-3AD203B41FA5}">
                      <a16:colId xmlns:a16="http://schemas.microsoft.com/office/drawing/2014/main" val="4224660559"/>
                    </a:ext>
                  </a:extLst>
                </a:gridCol>
              </a:tblGrid>
              <a:tr h="356486">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CSongGB18030C-Light" panose="020A0304000101010101" pitchFamily="18" charset="-122"/>
                          <a:cs typeface="Times New Roman" panose="02020603050405020304" pitchFamily="18" charset="0"/>
                        </a:rPr>
                        <a:t>h</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lr</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w</a:t>
                      </a:r>
                      <a:r>
                        <a:rPr lang="en-US" sz="1600" i="1" kern="100" dirty="0">
                          <a:effectLst/>
                          <a:latin typeface="Times New Roman" panose="02020603050405020304" pitchFamily="18" charset="0"/>
                          <a:ea typeface="CSongGB18030C-Light" panose="020A0304000101010101" pitchFamily="18" charset="-122"/>
                          <a:cs typeface="Times New Roman" panose="02020603050405020304" pitchFamily="18" charset="0"/>
                        </a:rPr>
                        <a:t> </a:t>
                      </a: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(L2)</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BN</a:t>
                      </a:r>
                      <a:endParaRPr lang="ko-KR" sz="16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test </a:t>
                      </a:r>
                      <a:r>
                        <a:rPr lang="en-US" sz="1600" kern="100" dirty="0" err="1">
                          <a:effectLst/>
                          <a:latin typeface="Times New Roman" panose="02020603050405020304" pitchFamily="18" charset="0"/>
                          <a:ea typeface="맑은 고딕" panose="020B0503020000020004" pitchFamily="50" charset="-127"/>
                          <a:cs typeface="Times New Roman" panose="02020603050405020304" pitchFamily="18" charset="0"/>
                        </a:rPr>
                        <a:t>acc</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724605"/>
                  </a:ext>
                </a:extLst>
              </a:tr>
              <a:tr h="355033">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tuned</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0.2</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0.001</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True</a:t>
                      </a:r>
                      <a:endParaRPr lang="ko-KR" sz="16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80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230.132</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0.950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571725"/>
                  </a:ext>
                </a:extLst>
              </a:tr>
            </a:tbl>
          </a:graphicData>
        </a:graphic>
      </p:graphicFrame>
      <p:pic>
        <p:nvPicPr>
          <p:cNvPr id="12" name="그림 11"/>
          <p:cNvPicPr>
            <a:picLocks noChangeAspect="1"/>
          </p:cNvPicPr>
          <p:nvPr/>
        </p:nvPicPr>
        <p:blipFill>
          <a:blip r:embed="rId3"/>
          <a:stretch>
            <a:fillRect/>
          </a:stretch>
        </p:blipFill>
        <p:spPr>
          <a:xfrm>
            <a:off x="6203622" y="277774"/>
            <a:ext cx="4912301" cy="3394488"/>
          </a:xfrm>
          <a:prstGeom prst="rect">
            <a:avLst/>
          </a:prstGeom>
        </p:spPr>
      </p:pic>
    </p:spTree>
    <p:extLst>
      <p:ext uri="{BB962C8B-B14F-4D97-AF65-F5344CB8AC3E}">
        <p14:creationId xmlns:p14="http://schemas.microsoft.com/office/powerpoint/2010/main" val="13237827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200" b="1" dirty="0" err="1">
                <a:latin typeface="Times New Roman" panose="02020603050405020304" pitchFamily="18" charset="0"/>
                <a:cs typeface="Times New Roman" panose="02020603050405020304" pitchFamily="18" charset="0"/>
              </a:rPr>
              <a:t>Loshchilov</a:t>
            </a:r>
            <a:r>
              <a:rPr lang="en-US" altLang="ko-KR" sz="3200" b="1" dirty="0">
                <a:latin typeface="Times New Roman" panose="02020603050405020304" pitchFamily="18" charset="0"/>
                <a:cs typeface="Times New Roman" panose="02020603050405020304" pitchFamily="18" charset="0"/>
              </a:rPr>
              <a:t> et al. </a:t>
            </a:r>
            <a:r>
              <a:rPr lang="en-US" altLang="ko-KR" sz="3200" b="1" dirty="0" smtClean="0">
                <a:latin typeface="Times New Roman" panose="02020603050405020304" pitchFamily="18" charset="0"/>
                <a:cs typeface="Times New Roman" panose="02020603050405020304" pitchFamily="18" charset="0"/>
              </a:rPr>
              <a:t> “Decoupled </a:t>
            </a:r>
            <a:r>
              <a:rPr lang="en-US" altLang="ko-KR" sz="3200" b="1" dirty="0">
                <a:latin typeface="Times New Roman" panose="02020603050405020304" pitchFamily="18" charset="0"/>
                <a:cs typeface="Times New Roman" panose="02020603050405020304" pitchFamily="18" charset="0"/>
              </a:rPr>
              <a:t>Weight Decay </a:t>
            </a:r>
            <a:r>
              <a:rPr lang="en-US" altLang="ko-KR" sz="3200" b="1" dirty="0" smtClean="0">
                <a:latin typeface="Times New Roman" panose="02020603050405020304" pitchFamily="18" charset="0"/>
                <a:cs typeface="Times New Roman" panose="02020603050405020304" pitchFamily="18" charset="0"/>
              </a:rPr>
              <a:t>Regularization”</a:t>
            </a:r>
            <a:endParaRPr lang="ko-KR" altLang="en-US" sz="3200" b="1" dirty="0">
              <a:latin typeface="Times New Roman" panose="02020603050405020304" pitchFamily="18" charset="0"/>
              <a:cs typeface="Times New Roman" panose="02020603050405020304" pitchFamily="18" charset="0"/>
            </a:endParaRPr>
          </a:p>
        </p:txBody>
      </p:sp>
      <p:pic>
        <p:nvPicPr>
          <p:cNvPr id="4" name="그림 3"/>
          <p:cNvPicPr>
            <a:picLocks noChangeAspect="1"/>
          </p:cNvPicPr>
          <p:nvPr/>
        </p:nvPicPr>
        <p:blipFill>
          <a:blip r:embed="rId2"/>
          <a:stretch>
            <a:fillRect/>
          </a:stretch>
        </p:blipFill>
        <p:spPr>
          <a:xfrm>
            <a:off x="112208" y="1690688"/>
            <a:ext cx="5702342" cy="2572736"/>
          </a:xfrm>
          <a:prstGeom prst="rect">
            <a:avLst/>
          </a:prstGeom>
        </p:spPr>
      </p:pic>
      <p:pic>
        <p:nvPicPr>
          <p:cNvPr id="5" name="그림 4"/>
          <p:cNvPicPr>
            <a:picLocks noChangeAspect="1"/>
          </p:cNvPicPr>
          <p:nvPr/>
        </p:nvPicPr>
        <p:blipFill>
          <a:blip r:embed="rId3"/>
          <a:stretch>
            <a:fillRect/>
          </a:stretch>
        </p:blipFill>
        <p:spPr>
          <a:xfrm>
            <a:off x="5814550" y="1690688"/>
            <a:ext cx="5785983" cy="2813106"/>
          </a:xfrm>
          <a:prstGeom prst="rect">
            <a:avLst/>
          </a:prstGeom>
        </p:spPr>
      </p:pic>
      <p:pic>
        <p:nvPicPr>
          <p:cNvPr id="6" name="그림 5"/>
          <p:cNvPicPr>
            <a:picLocks noChangeAspect="1"/>
          </p:cNvPicPr>
          <p:nvPr/>
        </p:nvPicPr>
        <p:blipFill>
          <a:blip r:embed="rId4"/>
          <a:stretch>
            <a:fillRect/>
          </a:stretch>
        </p:blipFill>
        <p:spPr>
          <a:xfrm>
            <a:off x="1104983" y="4617723"/>
            <a:ext cx="9629277" cy="1792975"/>
          </a:xfrm>
          <a:prstGeom prst="rect">
            <a:avLst/>
          </a:prstGeom>
        </p:spPr>
      </p:pic>
    </p:spTree>
    <p:extLst>
      <p:ext uri="{BB962C8B-B14F-4D97-AF65-F5344CB8AC3E}">
        <p14:creationId xmlns:p14="http://schemas.microsoft.com/office/powerpoint/2010/main" val="6827044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latin typeface="Times New Roman" panose="02020603050405020304" pitchFamily="18" charset="0"/>
                <a:cs typeface="Times New Roman" panose="02020603050405020304" pitchFamily="18" charset="0"/>
              </a:rPr>
              <a:t>2. Convolutional Neural Network (CNN)</a:t>
            </a:r>
            <a:endParaRPr lang="ko-KR" altLang="en-US" dirty="0">
              <a:latin typeface="Times New Roman" panose="02020603050405020304" pitchFamily="18" charset="0"/>
              <a:cs typeface="Times New Roman" panose="02020603050405020304" pitchFamily="18" charset="0"/>
            </a:endParaRPr>
          </a:p>
        </p:txBody>
      </p:sp>
      <p:sp>
        <p:nvSpPr>
          <p:cNvPr id="3" name="내용 개체 틀 2"/>
          <p:cNvSpPr>
            <a:spLocks noGrp="1"/>
          </p:cNvSpPr>
          <p:nvPr>
            <p:ph idx="1"/>
          </p:nvPr>
        </p:nvSpPr>
        <p:spPr/>
        <p:txBody>
          <a:bodyPr>
            <a:normAutofit/>
          </a:bodyPr>
          <a:lstStyle/>
          <a:p>
            <a:pPr marL="0" lvl="0" indent="0">
              <a:buNone/>
            </a:pPr>
            <a:r>
              <a:rPr lang="en-US" altLang="ko-KR" sz="2600" b="1" dirty="0">
                <a:solidFill>
                  <a:prstClr val="black"/>
                </a:solidFill>
                <a:latin typeface="Times New Roman" panose="02020603050405020304" pitchFamily="18" charset="0"/>
                <a:cs typeface="Times New Roman" panose="02020603050405020304" pitchFamily="18" charset="0"/>
              </a:rPr>
              <a:t>2</a:t>
            </a:r>
            <a:r>
              <a:rPr lang="en-US" altLang="ko-KR" sz="2600" b="1" dirty="0" smtClean="0">
                <a:solidFill>
                  <a:prstClr val="black"/>
                </a:solidFill>
                <a:latin typeface="Times New Roman" panose="02020603050405020304" pitchFamily="18" charset="0"/>
                <a:cs typeface="Times New Roman" panose="02020603050405020304" pitchFamily="18" charset="0"/>
              </a:rPr>
              <a:t>.1 </a:t>
            </a:r>
            <a:r>
              <a:rPr lang="en-US" altLang="ko-KR" sz="2600" b="1" dirty="0">
                <a:solidFill>
                  <a:prstClr val="black"/>
                </a:solidFill>
                <a:latin typeface="Times New Roman" panose="02020603050405020304" pitchFamily="18" charset="0"/>
                <a:cs typeface="Times New Roman" panose="02020603050405020304" pitchFamily="18" charset="0"/>
              </a:rPr>
              <a:t>Training Data and Batching</a:t>
            </a:r>
          </a:p>
          <a:p>
            <a:pPr marL="0" lvl="0" indent="0">
              <a:buNone/>
            </a:pPr>
            <a:r>
              <a:rPr lang="en-US" altLang="ko-KR" sz="1600" dirty="0">
                <a:solidFill>
                  <a:prstClr val="black"/>
                </a:solidFill>
                <a:latin typeface="Times New Roman" panose="02020603050405020304" pitchFamily="18" charset="0"/>
                <a:cs typeface="Times New Roman" panose="02020603050405020304" pitchFamily="18" charset="0"/>
              </a:rPr>
              <a:t>The model was trained on MNIST data set that consists of  </a:t>
            </a:r>
            <a:r>
              <a:rPr lang="en-US" altLang="ko-KR" sz="1600" dirty="0" smtClean="0">
                <a:solidFill>
                  <a:prstClr val="black"/>
                </a:solidFill>
                <a:latin typeface="Times New Roman" panose="02020603050405020304" pitchFamily="18" charset="0"/>
                <a:cs typeface="Times New Roman" panose="02020603050405020304" pitchFamily="18" charset="0"/>
              </a:rPr>
              <a:t>800 </a:t>
            </a:r>
            <a:r>
              <a:rPr lang="en-US" altLang="ko-KR" sz="1600" dirty="0">
                <a:solidFill>
                  <a:prstClr val="black"/>
                </a:solidFill>
                <a:latin typeface="Times New Roman" panose="02020603050405020304" pitchFamily="18" charset="0"/>
                <a:cs typeface="Times New Roman" panose="02020603050405020304" pitchFamily="18" charset="0"/>
              </a:rPr>
              <a:t>train sets and </a:t>
            </a:r>
            <a:r>
              <a:rPr lang="en-US" altLang="ko-KR" sz="1600" dirty="0" smtClean="0">
                <a:solidFill>
                  <a:prstClr val="black"/>
                </a:solidFill>
                <a:latin typeface="Times New Roman" panose="02020603050405020304" pitchFamily="18" charset="0"/>
                <a:cs typeface="Times New Roman" panose="02020603050405020304" pitchFamily="18" charset="0"/>
              </a:rPr>
              <a:t>200 </a:t>
            </a:r>
            <a:r>
              <a:rPr lang="en-US" altLang="ko-KR" sz="1600" dirty="0">
                <a:solidFill>
                  <a:prstClr val="black"/>
                </a:solidFill>
                <a:latin typeface="Times New Roman" panose="02020603050405020304" pitchFamily="18" charset="0"/>
                <a:cs typeface="Times New Roman" panose="02020603050405020304" pitchFamily="18" charset="0"/>
              </a:rPr>
              <a:t>test sets. Each training batch contains 100 image data in the size of 784 (28×28). </a:t>
            </a:r>
            <a:r>
              <a:rPr lang="en-US" altLang="ko-KR" sz="1600" dirty="0" smtClean="0">
                <a:solidFill>
                  <a:prstClr val="black"/>
                </a:solidFill>
                <a:latin typeface="Times New Roman" panose="02020603050405020304" pitchFamily="18" charset="0"/>
                <a:cs typeface="Times New Roman" panose="02020603050405020304" pitchFamily="18" charset="0"/>
              </a:rPr>
              <a:t>10 epochs are executed.</a:t>
            </a:r>
            <a:endParaRPr lang="en-US" altLang="ko-KR" sz="1600" dirty="0">
              <a:solidFill>
                <a:prstClr val="black"/>
              </a:solidFill>
              <a:latin typeface="Times New Roman" panose="02020603050405020304" pitchFamily="18" charset="0"/>
              <a:cs typeface="Times New Roman" panose="02020603050405020304" pitchFamily="18" charset="0"/>
            </a:endParaRPr>
          </a:p>
          <a:p>
            <a:pPr marL="0" lvl="0" indent="0">
              <a:buNone/>
            </a:pPr>
            <a:endParaRPr lang="en-US" altLang="ko-KR" sz="2700" b="1" dirty="0">
              <a:solidFill>
                <a:prstClr val="black"/>
              </a:solidFill>
              <a:latin typeface="Times New Roman" panose="02020603050405020304" pitchFamily="18" charset="0"/>
              <a:cs typeface="Times New Roman" panose="02020603050405020304" pitchFamily="18" charset="0"/>
            </a:endParaRPr>
          </a:p>
          <a:p>
            <a:pPr marL="0" lvl="0" indent="0">
              <a:buNone/>
            </a:pPr>
            <a:r>
              <a:rPr lang="en-US" altLang="ko-KR" sz="2600" b="1" dirty="0">
                <a:solidFill>
                  <a:prstClr val="black"/>
                </a:solidFill>
                <a:latin typeface="Times New Roman" panose="02020603050405020304" pitchFamily="18" charset="0"/>
                <a:cs typeface="Times New Roman" panose="02020603050405020304" pitchFamily="18" charset="0"/>
              </a:rPr>
              <a:t>2</a:t>
            </a:r>
            <a:r>
              <a:rPr lang="en-US" altLang="ko-KR" sz="2600" b="1" dirty="0" smtClean="0">
                <a:solidFill>
                  <a:prstClr val="black"/>
                </a:solidFill>
                <a:latin typeface="Times New Roman" panose="02020603050405020304" pitchFamily="18" charset="0"/>
                <a:cs typeface="Times New Roman" panose="02020603050405020304" pitchFamily="18" charset="0"/>
              </a:rPr>
              <a:t>.2 </a:t>
            </a:r>
            <a:r>
              <a:rPr lang="en-US" altLang="ko-KR" sz="2600" b="1" dirty="0">
                <a:solidFill>
                  <a:prstClr val="black"/>
                </a:solidFill>
                <a:latin typeface="Times New Roman" panose="02020603050405020304" pitchFamily="18" charset="0"/>
                <a:cs typeface="Times New Roman" panose="02020603050405020304" pitchFamily="18" charset="0"/>
              </a:rPr>
              <a:t>Optimizer</a:t>
            </a:r>
          </a:p>
          <a:p>
            <a:pPr marL="0" lvl="0" indent="0">
              <a:buNone/>
            </a:pPr>
            <a:r>
              <a:rPr lang="en-US" altLang="ko-KR" sz="1500" dirty="0">
                <a:solidFill>
                  <a:prstClr val="black"/>
                </a:solidFill>
                <a:latin typeface="Times New Roman" panose="02020603050405020304" pitchFamily="18" charset="0"/>
                <a:cs typeface="Times New Roman" panose="02020603050405020304" pitchFamily="18" charset="0"/>
              </a:rPr>
              <a:t>The base model used </a:t>
            </a:r>
            <a:r>
              <a:rPr lang="en-US" altLang="ko-KR" sz="1500" dirty="0" smtClean="0">
                <a:solidFill>
                  <a:prstClr val="black"/>
                </a:solidFill>
                <a:latin typeface="Times New Roman" panose="02020603050405020304" pitchFamily="18" charset="0"/>
                <a:cs typeface="Times New Roman" panose="02020603050405020304" pitchFamily="18" charset="0"/>
              </a:rPr>
              <a:t>Adam with ŋ=0.001</a:t>
            </a:r>
            <a:r>
              <a:rPr lang="en-US" altLang="ko-KR" sz="1500" dirty="0">
                <a:solidFill>
                  <a:prstClr val="black"/>
                </a:solidFill>
                <a:latin typeface="Times New Roman" panose="02020603050405020304" pitchFamily="18" charset="0"/>
                <a:cs typeface="Times New Roman" panose="02020603050405020304" pitchFamily="18" charset="0"/>
              </a:rPr>
              <a:t>.</a:t>
            </a:r>
          </a:p>
          <a:p>
            <a:pPr marL="0" lvl="0" indent="0">
              <a:buNone/>
            </a:pPr>
            <a:endParaRPr lang="en-US" altLang="ko-KR" sz="4400" b="1" dirty="0">
              <a:solidFill>
                <a:prstClr val="black"/>
              </a:solidFill>
              <a:latin typeface="Times New Roman" panose="02020603050405020304" pitchFamily="18" charset="0"/>
              <a:cs typeface="Times New Roman" panose="02020603050405020304" pitchFamily="18" charset="0"/>
            </a:endParaRPr>
          </a:p>
          <a:p>
            <a:pPr marL="0" lvl="0" indent="0">
              <a:buNone/>
            </a:pPr>
            <a:r>
              <a:rPr lang="en-US" altLang="ko-KR" sz="2600" b="1" dirty="0">
                <a:solidFill>
                  <a:prstClr val="black"/>
                </a:solidFill>
                <a:latin typeface="Times New Roman" panose="02020603050405020304" pitchFamily="18" charset="0"/>
                <a:cs typeface="Times New Roman" panose="02020603050405020304" pitchFamily="18" charset="0"/>
              </a:rPr>
              <a:t>2</a:t>
            </a:r>
            <a:r>
              <a:rPr lang="en-US" altLang="ko-KR" sz="2600" b="1" dirty="0" smtClean="0">
                <a:solidFill>
                  <a:prstClr val="black"/>
                </a:solidFill>
                <a:latin typeface="Times New Roman" panose="02020603050405020304" pitchFamily="18" charset="0"/>
                <a:cs typeface="Times New Roman" panose="02020603050405020304" pitchFamily="18" charset="0"/>
              </a:rPr>
              <a:t>.3 </a:t>
            </a:r>
            <a:r>
              <a:rPr lang="en-US" altLang="ko-KR" sz="2600" b="1" dirty="0">
                <a:solidFill>
                  <a:prstClr val="black"/>
                </a:solidFill>
                <a:latin typeface="Times New Roman" panose="02020603050405020304" pitchFamily="18" charset="0"/>
                <a:cs typeface="Times New Roman" panose="02020603050405020304" pitchFamily="18" charset="0"/>
              </a:rPr>
              <a:t>Regularization</a:t>
            </a:r>
          </a:p>
          <a:p>
            <a:pPr marL="0" lvl="0" indent="0">
              <a:buNone/>
            </a:pPr>
            <a:r>
              <a:rPr lang="en-US" altLang="ko-KR" sz="1500" b="1" dirty="0" smtClean="0">
                <a:solidFill>
                  <a:prstClr val="black"/>
                </a:solidFill>
                <a:latin typeface="Times New Roman" panose="02020603050405020304" pitchFamily="18" charset="0"/>
                <a:cs typeface="Times New Roman" panose="02020603050405020304" pitchFamily="18" charset="0"/>
              </a:rPr>
              <a:t>Dropout </a:t>
            </a:r>
            <a:r>
              <a:rPr lang="en-US" altLang="ko-KR" sz="1500" dirty="0" err="1" smtClean="0">
                <a:solidFill>
                  <a:prstClr val="black"/>
                </a:solidFill>
                <a:latin typeface="Times New Roman" panose="02020603050405020304" pitchFamily="18" charset="0"/>
                <a:cs typeface="Times New Roman" panose="02020603050405020304" pitchFamily="18" charset="0"/>
              </a:rPr>
              <a:t>Dropout</a:t>
            </a:r>
            <a:r>
              <a:rPr lang="en-US" altLang="ko-KR" sz="1500" dirty="0" smtClean="0">
                <a:solidFill>
                  <a:prstClr val="black"/>
                </a:solidFill>
                <a:latin typeface="Times New Roman" panose="02020603050405020304" pitchFamily="18" charset="0"/>
                <a:cs typeface="Times New Roman" panose="02020603050405020304" pitchFamily="18" charset="0"/>
              </a:rPr>
              <a:t> </a:t>
            </a:r>
            <a:r>
              <a:rPr lang="en-US" altLang="ko-KR" sz="1500" dirty="0">
                <a:solidFill>
                  <a:prstClr val="black"/>
                </a:solidFill>
                <a:latin typeface="Times New Roman" panose="02020603050405020304" pitchFamily="18" charset="0"/>
                <a:cs typeface="Times New Roman" panose="02020603050405020304" pitchFamily="18" charset="0"/>
              </a:rPr>
              <a:t>is applied </a:t>
            </a:r>
            <a:r>
              <a:rPr lang="en-US" altLang="ko-KR" sz="1500" dirty="0" smtClean="0">
                <a:solidFill>
                  <a:prstClr val="black"/>
                </a:solidFill>
                <a:latin typeface="Times New Roman" panose="02020603050405020304" pitchFamily="18" charset="0"/>
                <a:cs typeface="Times New Roman" panose="02020603050405020304" pitchFamily="18" charset="0"/>
              </a:rPr>
              <a:t>after fully connected layers, one after the </a:t>
            </a:r>
            <a:r>
              <a:rPr lang="en-US" altLang="ko-KR" sz="1500" dirty="0" err="1" smtClean="0">
                <a:solidFill>
                  <a:prstClr val="black"/>
                </a:solidFill>
                <a:latin typeface="Times New Roman" panose="02020603050405020304" pitchFamily="18" charset="0"/>
                <a:cs typeface="Times New Roman" panose="02020603050405020304" pitchFamily="18" charset="0"/>
              </a:rPr>
              <a:t>relu</a:t>
            </a:r>
            <a:r>
              <a:rPr lang="en-US" altLang="ko-KR" sz="1500" dirty="0" smtClean="0">
                <a:solidFill>
                  <a:prstClr val="black"/>
                </a:solidFill>
                <a:latin typeface="Times New Roman" panose="02020603050405020304" pitchFamily="18" charset="0"/>
                <a:cs typeface="Times New Roman" panose="02020603050405020304" pitchFamily="18" charset="0"/>
              </a:rPr>
              <a:t> function and the other before the </a:t>
            </a:r>
            <a:r>
              <a:rPr lang="en-US" altLang="ko-KR" sz="1500" dirty="0" err="1" smtClean="0">
                <a:solidFill>
                  <a:prstClr val="black"/>
                </a:solidFill>
                <a:latin typeface="Times New Roman" panose="02020603050405020304" pitchFamily="18" charset="0"/>
                <a:cs typeface="Times New Roman" panose="02020603050405020304" pitchFamily="18" charset="0"/>
              </a:rPr>
              <a:t>softmax</a:t>
            </a:r>
            <a:r>
              <a:rPr lang="en-US" altLang="ko-KR" sz="1500" dirty="0" smtClean="0">
                <a:solidFill>
                  <a:prstClr val="black"/>
                </a:solidFill>
                <a:latin typeface="Times New Roman" panose="02020603050405020304" pitchFamily="18" charset="0"/>
                <a:cs typeface="Times New Roman" panose="02020603050405020304" pitchFamily="18" charset="0"/>
              </a:rPr>
              <a:t> function. Variation of the model contains dropout layers after pooling layers with different dropout ratio.</a:t>
            </a:r>
            <a:endParaRPr lang="en-US" altLang="ko-KR" sz="150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32057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내용 개체 틀 3"/>
          <p:cNvPicPr>
            <a:picLocks noGrp="1" noChangeAspect="1"/>
          </p:cNvPicPr>
          <p:nvPr>
            <p:ph idx="1"/>
          </p:nvPr>
        </p:nvPicPr>
        <p:blipFill>
          <a:blip r:embed="rId2"/>
          <a:stretch>
            <a:fillRect/>
          </a:stretch>
        </p:blipFill>
        <p:spPr>
          <a:xfrm>
            <a:off x="747811" y="708610"/>
            <a:ext cx="10956509" cy="802836"/>
          </a:xfrm>
          <a:prstGeom prst="rect">
            <a:avLst/>
          </a:prstGeom>
        </p:spPr>
      </p:pic>
      <mc:AlternateContent xmlns:mc="http://schemas.openxmlformats.org/markup-compatibility/2006">
        <mc:Choice xmlns:a14="http://schemas.microsoft.com/office/drawing/2010/main" Requires="a14">
          <p:graphicFrame>
            <p:nvGraphicFramePr>
              <p:cNvPr id="6" name="표 5"/>
              <p:cNvGraphicFramePr>
                <a:graphicFrameLocks noGrp="1"/>
              </p:cNvGraphicFramePr>
              <p:nvPr>
                <p:extLst>
                  <p:ext uri="{D42A27DB-BD31-4B8C-83A1-F6EECF244321}">
                    <p14:modId xmlns:p14="http://schemas.microsoft.com/office/powerpoint/2010/main" val="1968640808"/>
                  </p:ext>
                </p:extLst>
              </p:nvPr>
            </p:nvGraphicFramePr>
            <p:xfrm>
              <a:off x="548640" y="1606984"/>
              <a:ext cx="11314705" cy="4474895"/>
            </p:xfrm>
            <a:graphic>
              <a:graphicData uri="http://schemas.openxmlformats.org/drawingml/2006/table">
                <a:tbl>
                  <a:tblPr firstRow="1" firstCol="1" bandRow="1"/>
                  <a:tblGrid>
                    <a:gridCol w="1103397">
                      <a:extLst>
                        <a:ext uri="{9D8B030D-6E8A-4147-A177-3AD203B41FA5}">
                          <a16:colId xmlns:a16="http://schemas.microsoft.com/office/drawing/2014/main" val="93963486"/>
                        </a:ext>
                      </a:extLst>
                    </a:gridCol>
                    <a:gridCol w="1023221">
                      <a:extLst>
                        <a:ext uri="{9D8B030D-6E8A-4147-A177-3AD203B41FA5}">
                          <a16:colId xmlns:a16="http://schemas.microsoft.com/office/drawing/2014/main" val="3282438605"/>
                        </a:ext>
                      </a:extLst>
                    </a:gridCol>
                    <a:gridCol w="1157802">
                      <a:extLst>
                        <a:ext uri="{9D8B030D-6E8A-4147-A177-3AD203B41FA5}">
                          <a16:colId xmlns:a16="http://schemas.microsoft.com/office/drawing/2014/main" val="1580375812"/>
                        </a:ext>
                      </a:extLst>
                    </a:gridCol>
                    <a:gridCol w="1092052">
                      <a:extLst>
                        <a:ext uri="{9D8B030D-6E8A-4147-A177-3AD203B41FA5}">
                          <a16:colId xmlns:a16="http://schemas.microsoft.com/office/drawing/2014/main" val="2841646264"/>
                        </a:ext>
                      </a:extLst>
                    </a:gridCol>
                    <a:gridCol w="1632187">
                      <a:extLst>
                        <a:ext uri="{9D8B030D-6E8A-4147-A177-3AD203B41FA5}">
                          <a16:colId xmlns:a16="http://schemas.microsoft.com/office/drawing/2014/main" val="1962805474"/>
                        </a:ext>
                      </a:extLst>
                    </a:gridCol>
                    <a:gridCol w="881002">
                      <a:extLst>
                        <a:ext uri="{9D8B030D-6E8A-4147-A177-3AD203B41FA5}">
                          <a16:colId xmlns:a16="http://schemas.microsoft.com/office/drawing/2014/main" val="3318615414"/>
                        </a:ext>
                      </a:extLst>
                    </a:gridCol>
                    <a:gridCol w="1037537">
                      <a:extLst>
                        <a:ext uri="{9D8B030D-6E8A-4147-A177-3AD203B41FA5}">
                          <a16:colId xmlns:a16="http://schemas.microsoft.com/office/drawing/2014/main" val="267765811"/>
                        </a:ext>
                      </a:extLst>
                    </a:gridCol>
                    <a:gridCol w="1306705">
                      <a:extLst>
                        <a:ext uri="{9D8B030D-6E8A-4147-A177-3AD203B41FA5}">
                          <a16:colId xmlns:a16="http://schemas.microsoft.com/office/drawing/2014/main" val="3416168101"/>
                        </a:ext>
                      </a:extLst>
                    </a:gridCol>
                    <a:gridCol w="1306705">
                      <a:extLst>
                        <a:ext uri="{9D8B030D-6E8A-4147-A177-3AD203B41FA5}">
                          <a16:colId xmlns:a16="http://schemas.microsoft.com/office/drawing/2014/main" val="2989379691"/>
                        </a:ext>
                      </a:extLst>
                    </a:gridCol>
                    <a:gridCol w="774097">
                      <a:extLst>
                        <a:ext uri="{9D8B030D-6E8A-4147-A177-3AD203B41FA5}">
                          <a16:colId xmlns:a16="http://schemas.microsoft.com/office/drawing/2014/main" val="69544845"/>
                        </a:ext>
                      </a:extLst>
                    </a:gridCol>
                  </a:tblGrid>
                  <a:tr h="221655">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c</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fc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d</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ko-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600" i="1" kern="100">
                                        <a:effectLst/>
                                        <a:latin typeface="Cambria Math" panose="02040503050406030204" pitchFamily="18" charset="0"/>
                                        <a:ea typeface="맑은 고딕" panose="020B0503020000020004" pitchFamily="50" charset="-127"/>
                                        <a:cs typeface="Times New Roman" panose="02020603050405020304" pitchFamily="18" charset="0"/>
                                      </a:rPr>
                                      <m:t>𝑓</m:t>
                                    </m:r>
                                  </m:e>
                                  <m:sub>
                                    <m:r>
                                      <a:rPr lang="en-US" sz="1600" i="1" kern="100">
                                        <a:effectLst/>
                                        <a:latin typeface="Cambria Math" panose="02040503050406030204" pitchFamily="18" charset="0"/>
                                        <a:ea typeface="맑은 고딕" panose="020B0503020000020004" pitchFamily="50" charset="-127"/>
                                        <a:cs typeface="Times New Roman" panose="02020603050405020304" pitchFamily="18" charset="0"/>
                                      </a:rPr>
                                      <m:t>𝑛</m:t>
                                    </m:r>
                                  </m:sub>
                                </m:sSub>
                              </m:oMath>
                            </m:oMathPara>
                          </a14:m>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ko-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600" i="1" kern="100">
                                        <a:effectLst/>
                                        <a:latin typeface="Cambria Math" panose="02040503050406030204" pitchFamily="18" charset="0"/>
                                        <a:ea typeface="맑은 고딕" panose="020B0503020000020004" pitchFamily="50" charset="-127"/>
                                        <a:cs typeface="Times New Roman" panose="02020603050405020304" pitchFamily="18" charset="0"/>
                                      </a:rPr>
                                      <m:t>𝑓</m:t>
                                    </m:r>
                                  </m:e>
                                  <m:sub>
                                    <m:r>
                                      <a:rPr lang="en-US" sz="1600" i="1" kern="100">
                                        <a:effectLst/>
                                        <a:latin typeface="Cambria Math" panose="02040503050406030204" pitchFamily="18" charset="0"/>
                                        <a:ea typeface="맑은 고딕" panose="020B0503020000020004" pitchFamily="50" charset="-127"/>
                                        <a:cs typeface="Times New Roman" panose="02020603050405020304" pitchFamily="18" charset="0"/>
                                      </a:rPr>
                                      <m:t>𝑠</m:t>
                                    </m:r>
                                  </m:sub>
                                </m:sSub>
                              </m:oMath>
                            </m:oMathPara>
                          </a14:m>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test acc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84402080"/>
                      </a:ext>
                    </a:extLst>
                  </a:tr>
                  <a:tr h="443309">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b</a:t>
                          </a: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ase</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6</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0.5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(FC Layer)</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16-64</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3</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145.008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0.9</a:t>
                          </a: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20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4200044"/>
                      </a:ext>
                    </a:extLst>
                  </a:tr>
                  <a:tr h="221655">
                    <a:tc rowSpan="2">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(A)</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4</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16-32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106.159</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0.905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823113719"/>
                      </a:ext>
                    </a:extLst>
                  </a:tr>
                  <a:tr h="221655">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8</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16-128</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147.109</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0.925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010842"/>
                      </a:ext>
                    </a:extLst>
                  </a:tr>
                  <a:tr h="221655">
                    <a:tc rowSpan="2">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(B)</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148.757</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b="1" kern="100" dirty="0">
                              <a:effectLst/>
                              <a:latin typeface="Times New Roman" panose="02020603050405020304" pitchFamily="18" charset="0"/>
                              <a:ea typeface="맑은 고딕" panose="020B0503020000020004" pitchFamily="50" charset="-127"/>
                              <a:cs typeface="Times New Roman" panose="02020603050405020304" pitchFamily="18" charset="0"/>
                            </a:rPr>
                            <a:t>0.945</a:t>
                          </a:r>
                          <a:endParaRPr lang="ko-KR" sz="1600" b="1"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708517292"/>
                      </a:ext>
                    </a:extLst>
                  </a:tr>
                  <a:tr h="221655">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151.479</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0.445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0297559"/>
                      </a:ext>
                    </a:extLst>
                  </a:tr>
                  <a:tr h="221655">
                    <a:tc rowSpan="4">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AdaGrad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148.402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0.690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877739106"/>
                      </a:ext>
                    </a:extLst>
                  </a:tr>
                  <a:tr h="300146">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Momentum</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150.030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0.335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534502552"/>
                      </a:ext>
                    </a:extLst>
                  </a:tr>
                  <a:tr h="221655">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SGD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149.942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0.165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4137773087"/>
                      </a:ext>
                    </a:extLst>
                  </a:tr>
                  <a:tr h="221655">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RMSprop</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147.214</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0.905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0919700"/>
                      </a:ext>
                    </a:extLst>
                  </a:tr>
                  <a:tr h="221655">
                    <a:tc rowSpan="2">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308.139</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0.910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704528938"/>
                      </a:ext>
                    </a:extLst>
                  </a:tr>
                  <a:tr h="221655">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3, 7</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279.683</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0.845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1579332"/>
                      </a:ext>
                    </a:extLst>
                  </a:tr>
                  <a:tr h="443309">
                    <a:tc rowSpan="2">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(E)</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(Pooling Layer)</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154.312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0.925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0145128"/>
                      </a:ext>
                    </a:extLst>
                  </a:tr>
                  <a:tr h="443309">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(Pooling Layer)</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152.260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0.835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818709"/>
                      </a:ext>
                    </a:extLst>
                  </a:tr>
                </a:tbl>
              </a:graphicData>
            </a:graphic>
          </p:graphicFrame>
        </mc:Choice>
        <mc:Fallback>
          <p:graphicFrame>
            <p:nvGraphicFramePr>
              <p:cNvPr id="6" name="표 5"/>
              <p:cNvGraphicFramePr>
                <a:graphicFrameLocks noGrp="1"/>
              </p:cNvGraphicFramePr>
              <p:nvPr>
                <p:extLst>
                  <p:ext uri="{D42A27DB-BD31-4B8C-83A1-F6EECF244321}">
                    <p14:modId xmlns:p14="http://schemas.microsoft.com/office/powerpoint/2010/main" val="1968640808"/>
                  </p:ext>
                </p:extLst>
              </p:nvPr>
            </p:nvGraphicFramePr>
            <p:xfrm>
              <a:off x="548640" y="1606984"/>
              <a:ext cx="11314705" cy="4474895"/>
            </p:xfrm>
            <a:graphic>
              <a:graphicData uri="http://schemas.openxmlformats.org/drawingml/2006/table">
                <a:tbl>
                  <a:tblPr firstRow="1" firstCol="1" bandRow="1"/>
                  <a:tblGrid>
                    <a:gridCol w="1103397">
                      <a:extLst>
                        <a:ext uri="{9D8B030D-6E8A-4147-A177-3AD203B41FA5}">
                          <a16:colId xmlns:a16="http://schemas.microsoft.com/office/drawing/2014/main" val="93963486"/>
                        </a:ext>
                      </a:extLst>
                    </a:gridCol>
                    <a:gridCol w="1023221">
                      <a:extLst>
                        <a:ext uri="{9D8B030D-6E8A-4147-A177-3AD203B41FA5}">
                          <a16:colId xmlns:a16="http://schemas.microsoft.com/office/drawing/2014/main" val="3282438605"/>
                        </a:ext>
                      </a:extLst>
                    </a:gridCol>
                    <a:gridCol w="1157802">
                      <a:extLst>
                        <a:ext uri="{9D8B030D-6E8A-4147-A177-3AD203B41FA5}">
                          <a16:colId xmlns:a16="http://schemas.microsoft.com/office/drawing/2014/main" val="1580375812"/>
                        </a:ext>
                      </a:extLst>
                    </a:gridCol>
                    <a:gridCol w="1092052">
                      <a:extLst>
                        <a:ext uri="{9D8B030D-6E8A-4147-A177-3AD203B41FA5}">
                          <a16:colId xmlns:a16="http://schemas.microsoft.com/office/drawing/2014/main" val="2841646264"/>
                        </a:ext>
                      </a:extLst>
                    </a:gridCol>
                    <a:gridCol w="1632187">
                      <a:extLst>
                        <a:ext uri="{9D8B030D-6E8A-4147-A177-3AD203B41FA5}">
                          <a16:colId xmlns:a16="http://schemas.microsoft.com/office/drawing/2014/main" val="1962805474"/>
                        </a:ext>
                      </a:extLst>
                    </a:gridCol>
                    <a:gridCol w="881002">
                      <a:extLst>
                        <a:ext uri="{9D8B030D-6E8A-4147-A177-3AD203B41FA5}">
                          <a16:colId xmlns:a16="http://schemas.microsoft.com/office/drawing/2014/main" val="3318615414"/>
                        </a:ext>
                      </a:extLst>
                    </a:gridCol>
                    <a:gridCol w="1037537">
                      <a:extLst>
                        <a:ext uri="{9D8B030D-6E8A-4147-A177-3AD203B41FA5}">
                          <a16:colId xmlns:a16="http://schemas.microsoft.com/office/drawing/2014/main" val="267765811"/>
                        </a:ext>
                      </a:extLst>
                    </a:gridCol>
                    <a:gridCol w="1306705">
                      <a:extLst>
                        <a:ext uri="{9D8B030D-6E8A-4147-A177-3AD203B41FA5}">
                          <a16:colId xmlns:a16="http://schemas.microsoft.com/office/drawing/2014/main" val="3416168101"/>
                        </a:ext>
                      </a:extLst>
                    </a:gridCol>
                    <a:gridCol w="1306705">
                      <a:extLst>
                        <a:ext uri="{9D8B030D-6E8A-4147-A177-3AD203B41FA5}">
                          <a16:colId xmlns:a16="http://schemas.microsoft.com/office/drawing/2014/main" val="2989379691"/>
                        </a:ext>
                      </a:extLst>
                    </a:gridCol>
                    <a:gridCol w="774097">
                      <a:extLst>
                        <a:ext uri="{9D8B030D-6E8A-4147-A177-3AD203B41FA5}">
                          <a16:colId xmlns:a16="http://schemas.microsoft.com/office/drawing/2014/main" val="69544845"/>
                        </a:ext>
                      </a:extLst>
                    </a:gridCol>
                  </a:tblGrid>
                  <a:tr h="260922">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c</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fc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d</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ko-K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680000" t="-23256" r="-501379" b="-1651163"/>
                          </a:stretch>
                        </a:blipFill>
                      </a:tcPr>
                    </a:tc>
                    <a:tc>
                      <a:txBody>
                        <a:bodyPr/>
                        <a:lstStyle/>
                        <a:p>
                          <a:endParaRPr lang="ko-K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665294" t="-23256" r="-327647" b="-1651163"/>
                          </a:stretch>
                        </a:blipFill>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test acc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84402080"/>
                      </a:ext>
                    </a:extLst>
                  </a:tr>
                  <a:tr h="521843">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b</a:t>
                          </a: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ase</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6</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0.5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(FC Layer)</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16-64</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3</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145.008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0.9</a:t>
                          </a: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20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4200044"/>
                      </a:ext>
                    </a:extLst>
                  </a:tr>
                  <a:tr h="260922">
                    <a:tc rowSpan="2">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(A)</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4</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16-32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106.159</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0.905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823113719"/>
                      </a:ext>
                    </a:extLst>
                  </a:tr>
                  <a:tr h="260922">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8</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16-128</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147.109</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0.925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010842"/>
                      </a:ext>
                    </a:extLst>
                  </a:tr>
                  <a:tr h="260922">
                    <a:tc rowSpan="2">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(B)</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148.757</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b="1" kern="100" dirty="0">
                              <a:effectLst/>
                              <a:latin typeface="Times New Roman" panose="02020603050405020304" pitchFamily="18" charset="0"/>
                              <a:ea typeface="맑은 고딕" panose="020B0503020000020004" pitchFamily="50" charset="-127"/>
                              <a:cs typeface="Times New Roman" panose="02020603050405020304" pitchFamily="18" charset="0"/>
                            </a:rPr>
                            <a:t>0.945</a:t>
                          </a:r>
                          <a:endParaRPr lang="ko-KR" sz="1600" b="1"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708517292"/>
                      </a:ext>
                    </a:extLst>
                  </a:tr>
                  <a:tr h="260922">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151.479</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0.445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0297559"/>
                      </a:ext>
                    </a:extLst>
                  </a:tr>
                  <a:tr h="260922">
                    <a:tc rowSpan="4">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AdaGrad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148.402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0.690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877739106"/>
                      </a:ext>
                    </a:extLst>
                  </a:tr>
                  <a:tr h="300146">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Momentum</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150.030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0.335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534502552"/>
                      </a:ext>
                    </a:extLst>
                  </a:tr>
                  <a:tr h="260922">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SGD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149.942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0.165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4137773087"/>
                      </a:ext>
                    </a:extLst>
                  </a:tr>
                  <a:tr h="260922">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RMSprop</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147.214</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0.905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0919700"/>
                      </a:ext>
                    </a:extLst>
                  </a:tr>
                  <a:tr h="260922">
                    <a:tc rowSpan="2">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308.139</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0.910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704528938"/>
                      </a:ext>
                    </a:extLst>
                  </a:tr>
                  <a:tr h="260922">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3, 7</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279.683</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0.845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1579332"/>
                      </a:ext>
                    </a:extLst>
                  </a:tr>
                  <a:tr h="521843">
                    <a:tc rowSpan="2">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(E)</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(Pooling Layer)</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154.312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0.925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0145128"/>
                      </a:ext>
                    </a:extLst>
                  </a:tr>
                  <a:tr h="521843">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(Pooling Layer)</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152.260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0.835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818709"/>
                      </a:ext>
                    </a:extLst>
                  </a:tr>
                </a:tbl>
              </a:graphicData>
            </a:graphic>
          </p:graphicFrame>
        </mc:Fallback>
      </mc:AlternateContent>
    </p:spTree>
    <p:extLst>
      <p:ext uri="{BB962C8B-B14F-4D97-AF65-F5344CB8AC3E}">
        <p14:creationId xmlns:p14="http://schemas.microsoft.com/office/powerpoint/2010/main" val="25209109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mc:AlternateContent xmlns:mc="http://schemas.openxmlformats.org/markup-compatibility/2006" xmlns:a14="http://schemas.microsoft.com/office/drawing/2010/main">
        <mc:Choice Requires="a14">
          <p:graphicFrame>
            <p:nvGraphicFramePr>
              <p:cNvPr id="4" name="내용 개체 틀 3"/>
              <p:cNvGraphicFramePr>
                <a:graphicFrameLocks noGrp="1"/>
              </p:cNvGraphicFramePr>
              <p:nvPr>
                <p:ph idx="1"/>
                <p:extLst>
                  <p:ext uri="{D42A27DB-BD31-4B8C-83A1-F6EECF244321}">
                    <p14:modId xmlns:p14="http://schemas.microsoft.com/office/powerpoint/2010/main" val="3895203796"/>
                  </p:ext>
                </p:extLst>
              </p:nvPr>
            </p:nvGraphicFramePr>
            <p:xfrm>
              <a:off x="527437" y="4251963"/>
              <a:ext cx="11074126" cy="940239"/>
            </p:xfrm>
            <a:graphic>
              <a:graphicData uri="http://schemas.openxmlformats.org/drawingml/2006/table">
                <a:tbl>
                  <a:tblPr firstRow="1" firstCol="1" bandRow="1"/>
                  <a:tblGrid>
                    <a:gridCol w="1079936">
                      <a:extLst>
                        <a:ext uri="{9D8B030D-6E8A-4147-A177-3AD203B41FA5}">
                          <a16:colId xmlns:a16="http://schemas.microsoft.com/office/drawing/2014/main" val="3300978033"/>
                        </a:ext>
                      </a:extLst>
                    </a:gridCol>
                    <a:gridCol w="1001465">
                      <a:extLst>
                        <a:ext uri="{9D8B030D-6E8A-4147-A177-3AD203B41FA5}">
                          <a16:colId xmlns:a16="http://schemas.microsoft.com/office/drawing/2014/main" val="12145729"/>
                        </a:ext>
                      </a:extLst>
                    </a:gridCol>
                    <a:gridCol w="1133186">
                      <a:extLst>
                        <a:ext uri="{9D8B030D-6E8A-4147-A177-3AD203B41FA5}">
                          <a16:colId xmlns:a16="http://schemas.microsoft.com/office/drawing/2014/main" val="2128027429"/>
                        </a:ext>
                      </a:extLst>
                    </a:gridCol>
                    <a:gridCol w="1068833">
                      <a:extLst>
                        <a:ext uri="{9D8B030D-6E8A-4147-A177-3AD203B41FA5}">
                          <a16:colId xmlns:a16="http://schemas.microsoft.com/office/drawing/2014/main" val="2068763206"/>
                        </a:ext>
                      </a:extLst>
                    </a:gridCol>
                    <a:gridCol w="1597483">
                      <a:extLst>
                        <a:ext uri="{9D8B030D-6E8A-4147-A177-3AD203B41FA5}">
                          <a16:colId xmlns:a16="http://schemas.microsoft.com/office/drawing/2014/main" val="1252958954"/>
                        </a:ext>
                      </a:extLst>
                    </a:gridCol>
                    <a:gridCol w="862269">
                      <a:extLst>
                        <a:ext uri="{9D8B030D-6E8A-4147-A177-3AD203B41FA5}">
                          <a16:colId xmlns:a16="http://schemas.microsoft.com/office/drawing/2014/main" val="3262817614"/>
                        </a:ext>
                      </a:extLst>
                    </a:gridCol>
                    <a:gridCol w="1015477">
                      <a:extLst>
                        <a:ext uri="{9D8B030D-6E8A-4147-A177-3AD203B41FA5}">
                          <a16:colId xmlns:a16="http://schemas.microsoft.com/office/drawing/2014/main" val="1464081703"/>
                        </a:ext>
                      </a:extLst>
                    </a:gridCol>
                    <a:gridCol w="1278920">
                      <a:extLst>
                        <a:ext uri="{9D8B030D-6E8A-4147-A177-3AD203B41FA5}">
                          <a16:colId xmlns:a16="http://schemas.microsoft.com/office/drawing/2014/main" val="3267958908"/>
                        </a:ext>
                      </a:extLst>
                    </a:gridCol>
                    <a:gridCol w="1278920">
                      <a:extLst>
                        <a:ext uri="{9D8B030D-6E8A-4147-A177-3AD203B41FA5}">
                          <a16:colId xmlns:a16="http://schemas.microsoft.com/office/drawing/2014/main" val="3903553445"/>
                        </a:ext>
                      </a:extLst>
                    </a:gridCol>
                    <a:gridCol w="757637">
                      <a:extLst>
                        <a:ext uri="{9D8B030D-6E8A-4147-A177-3AD203B41FA5}">
                          <a16:colId xmlns:a16="http://schemas.microsoft.com/office/drawing/2014/main" val="3342904220"/>
                        </a:ext>
                      </a:extLst>
                    </a:gridCol>
                  </a:tblGrid>
                  <a:tr h="313413">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c</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fc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d</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ko-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600" i="1" kern="100">
                                        <a:effectLst/>
                                        <a:latin typeface="Cambria Math" panose="02040503050406030204" pitchFamily="18" charset="0"/>
                                        <a:ea typeface="맑은 고딕" panose="020B0503020000020004" pitchFamily="50" charset="-127"/>
                                        <a:cs typeface="Times New Roman" panose="02020603050405020304" pitchFamily="18" charset="0"/>
                                      </a:rPr>
                                      <m:t>𝑓</m:t>
                                    </m:r>
                                  </m:e>
                                  <m:sub>
                                    <m:r>
                                      <a:rPr lang="en-US" sz="1600" i="1" kern="100">
                                        <a:effectLst/>
                                        <a:latin typeface="Cambria Math" panose="02040503050406030204" pitchFamily="18" charset="0"/>
                                        <a:ea typeface="맑은 고딕" panose="020B0503020000020004" pitchFamily="50" charset="-127"/>
                                        <a:cs typeface="Times New Roman" panose="02020603050405020304" pitchFamily="18" charset="0"/>
                                      </a:rPr>
                                      <m:t>𝑛</m:t>
                                    </m:r>
                                  </m:sub>
                                </m:sSub>
                              </m:oMath>
                            </m:oMathPara>
                          </a14:m>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ko-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600" i="1" kern="100">
                                        <a:effectLst/>
                                        <a:latin typeface="Cambria Math" panose="02040503050406030204" pitchFamily="18" charset="0"/>
                                        <a:ea typeface="맑은 고딕" panose="020B0503020000020004" pitchFamily="50" charset="-127"/>
                                        <a:cs typeface="Times New Roman" panose="02020603050405020304" pitchFamily="18" charset="0"/>
                                      </a:rPr>
                                      <m:t>𝑓</m:t>
                                    </m:r>
                                  </m:e>
                                  <m:sub>
                                    <m:r>
                                      <a:rPr lang="en-US" sz="1600" i="1" kern="100">
                                        <a:effectLst/>
                                        <a:latin typeface="Cambria Math" panose="02040503050406030204" pitchFamily="18" charset="0"/>
                                        <a:ea typeface="맑은 고딕" panose="020B0503020000020004" pitchFamily="50" charset="-127"/>
                                        <a:cs typeface="Times New Roman" panose="02020603050405020304" pitchFamily="18" charset="0"/>
                                      </a:rPr>
                                      <m:t>𝑠</m:t>
                                    </m:r>
                                  </m:sub>
                                </m:sSub>
                              </m:oMath>
                            </m:oMathPara>
                          </a14:m>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test acc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4533737"/>
                      </a:ext>
                    </a:extLst>
                  </a:tr>
                  <a:tr h="626826">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b</a:t>
                          </a: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ase</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6</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0.5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(FC Layer)</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16-64</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3</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145.008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0.9</a:t>
                          </a: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20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1965917"/>
                      </a:ext>
                    </a:extLst>
                  </a:tr>
                </a:tbl>
              </a:graphicData>
            </a:graphic>
          </p:graphicFrame>
        </mc:Choice>
        <mc:Fallback xmlns="">
          <p:graphicFrame>
            <p:nvGraphicFramePr>
              <p:cNvPr id="4" name="내용 개체 틀 3"/>
              <p:cNvGraphicFramePr>
                <a:graphicFrameLocks noGrp="1"/>
              </p:cNvGraphicFramePr>
              <p:nvPr>
                <p:ph idx="1"/>
                <p:extLst>
                  <p:ext uri="{D42A27DB-BD31-4B8C-83A1-F6EECF244321}">
                    <p14:modId xmlns:p14="http://schemas.microsoft.com/office/powerpoint/2010/main" val="3895203796"/>
                  </p:ext>
                </p:extLst>
              </p:nvPr>
            </p:nvGraphicFramePr>
            <p:xfrm>
              <a:off x="527437" y="4251963"/>
              <a:ext cx="11074126" cy="940239"/>
            </p:xfrm>
            <a:graphic>
              <a:graphicData uri="http://schemas.openxmlformats.org/drawingml/2006/table">
                <a:tbl>
                  <a:tblPr firstRow="1" firstCol="1" bandRow="1"/>
                  <a:tblGrid>
                    <a:gridCol w="1079936">
                      <a:extLst>
                        <a:ext uri="{9D8B030D-6E8A-4147-A177-3AD203B41FA5}">
                          <a16:colId xmlns:a16="http://schemas.microsoft.com/office/drawing/2014/main" val="3300978033"/>
                        </a:ext>
                      </a:extLst>
                    </a:gridCol>
                    <a:gridCol w="1001465">
                      <a:extLst>
                        <a:ext uri="{9D8B030D-6E8A-4147-A177-3AD203B41FA5}">
                          <a16:colId xmlns:a16="http://schemas.microsoft.com/office/drawing/2014/main" val="12145729"/>
                        </a:ext>
                      </a:extLst>
                    </a:gridCol>
                    <a:gridCol w="1133186">
                      <a:extLst>
                        <a:ext uri="{9D8B030D-6E8A-4147-A177-3AD203B41FA5}">
                          <a16:colId xmlns:a16="http://schemas.microsoft.com/office/drawing/2014/main" val="2128027429"/>
                        </a:ext>
                      </a:extLst>
                    </a:gridCol>
                    <a:gridCol w="1068833">
                      <a:extLst>
                        <a:ext uri="{9D8B030D-6E8A-4147-A177-3AD203B41FA5}">
                          <a16:colId xmlns:a16="http://schemas.microsoft.com/office/drawing/2014/main" val="2068763206"/>
                        </a:ext>
                      </a:extLst>
                    </a:gridCol>
                    <a:gridCol w="1597483">
                      <a:extLst>
                        <a:ext uri="{9D8B030D-6E8A-4147-A177-3AD203B41FA5}">
                          <a16:colId xmlns:a16="http://schemas.microsoft.com/office/drawing/2014/main" val="1252958954"/>
                        </a:ext>
                      </a:extLst>
                    </a:gridCol>
                    <a:gridCol w="862269">
                      <a:extLst>
                        <a:ext uri="{9D8B030D-6E8A-4147-A177-3AD203B41FA5}">
                          <a16:colId xmlns:a16="http://schemas.microsoft.com/office/drawing/2014/main" val="3262817614"/>
                        </a:ext>
                      </a:extLst>
                    </a:gridCol>
                    <a:gridCol w="1015477">
                      <a:extLst>
                        <a:ext uri="{9D8B030D-6E8A-4147-A177-3AD203B41FA5}">
                          <a16:colId xmlns:a16="http://schemas.microsoft.com/office/drawing/2014/main" val="1464081703"/>
                        </a:ext>
                      </a:extLst>
                    </a:gridCol>
                    <a:gridCol w="1278920">
                      <a:extLst>
                        <a:ext uri="{9D8B030D-6E8A-4147-A177-3AD203B41FA5}">
                          <a16:colId xmlns:a16="http://schemas.microsoft.com/office/drawing/2014/main" val="3267958908"/>
                        </a:ext>
                      </a:extLst>
                    </a:gridCol>
                    <a:gridCol w="1278920">
                      <a:extLst>
                        <a:ext uri="{9D8B030D-6E8A-4147-A177-3AD203B41FA5}">
                          <a16:colId xmlns:a16="http://schemas.microsoft.com/office/drawing/2014/main" val="3903553445"/>
                        </a:ext>
                      </a:extLst>
                    </a:gridCol>
                    <a:gridCol w="757637">
                      <a:extLst>
                        <a:ext uri="{9D8B030D-6E8A-4147-A177-3AD203B41FA5}">
                          <a16:colId xmlns:a16="http://schemas.microsoft.com/office/drawing/2014/main" val="3342904220"/>
                        </a:ext>
                      </a:extLst>
                    </a:gridCol>
                  </a:tblGrid>
                  <a:tr h="313413">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c</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fc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d</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ko-K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679577" t="-19231" r="-501408" b="-201923"/>
                          </a:stretch>
                        </a:blipFill>
                      </a:tcPr>
                    </a:tc>
                    <a:tc>
                      <a:txBody>
                        <a:bodyPr/>
                        <a:lstStyle/>
                        <a:p>
                          <a:endParaRPr lang="ko-K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662874" t="-19231" r="-326347" b="-201923"/>
                          </a:stretch>
                        </a:blipFill>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test acc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4533737"/>
                      </a:ext>
                    </a:extLst>
                  </a:tr>
                  <a:tr h="626826">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b</a:t>
                          </a: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ase</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6</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0.5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(FC Layer)</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16-64</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3</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145.008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0.9</a:t>
                          </a: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20</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1965917"/>
                      </a:ext>
                    </a:extLst>
                  </a:tr>
                </a:tbl>
              </a:graphicData>
            </a:graphic>
          </p:graphicFrame>
        </mc:Fallback>
      </mc:AlternateContent>
      <p:pic>
        <p:nvPicPr>
          <p:cNvPr id="6" name="그림 5"/>
          <p:cNvPicPr>
            <a:picLocks noChangeAspect="1"/>
          </p:cNvPicPr>
          <p:nvPr/>
        </p:nvPicPr>
        <p:blipFill>
          <a:blip r:embed="rId3"/>
          <a:stretch>
            <a:fillRect/>
          </a:stretch>
        </p:blipFill>
        <p:spPr>
          <a:xfrm>
            <a:off x="179816" y="226607"/>
            <a:ext cx="5497415" cy="3774687"/>
          </a:xfrm>
          <a:prstGeom prst="rect">
            <a:avLst/>
          </a:prstGeom>
        </p:spPr>
      </p:pic>
      <p:pic>
        <p:nvPicPr>
          <p:cNvPr id="5" name="그림 4"/>
          <p:cNvPicPr>
            <a:picLocks noChangeAspect="1"/>
          </p:cNvPicPr>
          <p:nvPr/>
        </p:nvPicPr>
        <p:blipFill>
          <a:blip r:embed="rId4"/>
          <a:stretch>
            <a:fillRect/>
          </a:stretch>
        </p:blipFill>
        <p:spPr>
          <a:xfrm>
            <a:off x="6025598" y="226607"/>
            <a:ext cx="5575965" cy="3862680"/>
          </a:xfrm>
          <a:prstGeom prst="rect">
            <a:avLst/>
          </a:prstGeom>
        </p:spPr>
      </p:pic>
      <mc:AlternateContent xmlns:mc="http://schemas.openxmlformats.org/markup-compatibility/2006" xmlns:a14="http://schemas.microsoft.com/office/drawing/2010/main">
        <mc:Choice Requires="a14">
          <p:graphicFrame>
            <p:nvGraphicFramePr>
              <p:cNvPr id="7" name="내용 개체 틀 3"/>
              <p:cNvGraphicFramePr>
                <a:graphicFrameLocks/>
              </p:cNvGraphicFramePr>
              <p:nvPr>
                <p:extLst>
                  <p:ext uri="{D42A27DB-BD31-4B8C-83A1-F6EECF244321}">
                    <p14:modId xmlns:p14="http://schemas.microsoft.com/office/powerpoint/2010/main" val="4262626657"/>
                  </p:ext>
                </p:extLst>
              </p:nvPr>
            </p:nvGraphicFramePr>
            <p:xfrm>
              <a:off x="527436" y="5440101"/>
              <a:ext cx="11074129" cy="1122468"/>
            </p:xfrm>
            <a:graphic>
              <a:graphicData uri="http://schemas.openxmlformats.org/drawingml/2006/table">
                <a:tbl>
                  <a:tblPr firstRow="1" firstCol="1" bandRow="1"/>
                  <a:tblGrid>
                    <a:gridCol w="1079936">
                      <a:extLst>
                        <a:ext uri="{9D8B030D-6E8A-4147-A177-3AD203B41FA5}">
                          <a16:colId xmlns:a16="http://schemas.microsoft.com/office/drawing/2014/main" val="3300978033"/>
                        </a:ext>
                      </a:extLst>
                    </a:gridCol>
                    <a:gridCol w="1001465">
                      <a:extLst>
                        <a:ext uri="{9D8B030D-6E8A-4147-A177-3AD203B41FA5}">
                          <a16:colId xmlns:a16="http://schemas.microsoft.com/office/drawing/2014/main" val="12145729"/>
                        </a:ext>
                      </a:extLst>
                    </a:gridCol>
                    <a:gridCol w="1133186">
                      <a:extLst>
                        <a:ext uri="{9D8B030D-6E8A-4147-A177-3AD203B41FA5}">
                          <a16:colId xmlns:a16="http://schemas.microsoft.com/office/drawing/2014/main" val="2128027429"/>
                        </a:ext>
                      </a:extLst>
                    </a:gridCol>
                    <a:gridCol w="1068833">
                      <a:extLst>
                        <a:ext uri="{9D8B030D-6E8A-4147-A177-3AD203B41FA5}">
                          <a16:colId xmlns:a16="http://schemas.microsoft.com/office/drawing/2014/main" val="2068763206"/>
                        </a:ext>
                      </a:extLst>
                    </a:gridCol>
                    <a:gridCol w="1597483">
                      <a:extLst>
                        <a:ext uri="{9D8B030D-6E8A-4147-A177-3AD203B41FA5}">
                          <a16:colId xmlns:a16="http://schemas.microsoft.com/office/drawing/2014/main" val="1252958954"/>
                        </a:ext>
                      </a:extLst>
                    </a:gridCol>
                    <a:gridCol w="862269">
                      <a:extLst>
                        <a:ext uri="{9D8B030D-6E8A-4147-A177-3AD203B41FA5}">
                          <a16:colId xmlns:a16="http://schemas.microsoft.com/office/drawing/2014/main" val="3262817614"/>
                        </a:ext>
                      </a:extLst>
                    </a:gridCol>
                    <a:gridCol w="1015478">
                      <a:extLst>
                        <a:ext uri="{9D8B030D-6E8A-4147-A177-3AD203B41FA5}">
                          <a16:colId xmlns:a16="http://schemas.microsoft.com/office/drawing/2014/main" val="1464081703"/>
                        </a:ext>
                      </a:extLst>
                    </a:gridCol>
                    <a:gridCol w="1278921">
                      <a:extLst>
                        <a:ext uri="{9D8B030D-6E8A-4147-A177-3AD203B41FA5}">
                          <a16:colId xmlns:a16="http://schemas.microsoft.com/office/drawing/2014/main" val="3267958908"/>
                        </a:ext>
                      </a:extLst>
                    </a:gridCol>
                    <a:gridCol w="1278921">
                      <a:extLst>
                        <a:ext uri="{9D8B030D-6E8A-4147-A177-3AD203B41FA5}">
                          <a16:colId xmlns:a16="http://schemas.microsoft.com/office/drawing/2014/main" val="3903553445"/>
                        </a:ext>
                      </a:extLst>
                    </a:gridCol>
                    <a:gridCol w="757637">
                      <a:extLst>
                        <a:ext uri="{9D8B030D-6E8A-4147-A177-3AD203B41FA5}">
                          <a16:colId xmlns:a16="http://schemas.microsoft.com/office/drawing/2014/main" val="3342904220"/>
                        </a:ext>
                      </a:extLst>
                    </a:gridCol>
                  </a:tblGrid>
                  <a:tr h="561234">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c</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fc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d</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ko-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600" i="1" kern="100">
                                        <a:effectLst/>
                                        <a:latin typeface="Cambria Math" panose="02040503050406030204" pitchFamily="18" charset="0"/>
                                        <a:ea typeface="맑은 고딕" panose="020B0503020000020004" pitchFamily="50" charset="-127"/>
                                        <a:cs typeface="Times New Roman" panose="02020603050405020304" pitchFamily="18" charset="0"/>
                                      </a:rPr>
                                      <m:t>𝑓</m:t>
                                    </m:r>
                                  </m:e>
                                  <m:sub>
                                    <m:r>
                                      <a:rPr lang="en-US" sz="1600" i="1" kern="100">
                                        <a:effectLst/>
                                        <a:latin typeface="Cambria Math" panose="02040503050406030204" pitchFamily="18" charset="0"/>
                                        <a:ea typeface="맑은 고딕" panose="020B0503020000020004" pitchFamily="50" charset="-127"/>
                                        <a:cs typeface="Times New Roman" panose="02020603050405020304" pitchFamily="18" charset="0"/>
                                      </a:rPr>
                                      <m:t>𝑛</m:t>
                                    </m:r>
                                  </m:sub>
                                </m:sSub>
                              </m:oMath>
                            </m:oMathPara>
                          </a14:m>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ko-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600" i="1" kern="100">
                                        <a:effectLst/>
                                        <a:latin typeface="Cambria Math" panose="02040503050406030204" pitchFamily="18" charset="0"/>
                                        <a:ea typeface="맑은 고딕" panose="020B0503020000020004" pitchFamily="50" charset="-127"/>
                                        <a:cs typeface="Times New Roman" panose="02020603050405020304" pitchFamily="18" charset="0"/>
                                      </a:rPr>
                                      <m:t>𝑓</m:t>
                                    </m:r>
                                  </m:e>
                                  <m:sub>
                                    <m:r>
                                      <a:rPr lang="en-US" sz="1600" i="1" kern="100">
                                        <a:effectLst/>
                                        <a:latin typeface="Cambria Math" panose="02040503050406030204" pitchFamily="18" charset="0"/>
                                        <a:ea typeface="맑은 고딕" panose="020B0503020000020004" pitchFamily="50" charset="-127"/>
                                        <a:cs typeface="Times New Roman" panose="02020603050405020304" pitchFamily="18" charset="0"/>
                                      </a:rPr>
                                      <m:t>𝑠</m:t>
                                    </m:r>
                                  </m:sub>
                                </m:sSub>
                              </m:oMath>
                            </m:oMathPara>
                          </a14:m>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test </a:t>
                          </a:r>
                          <a:r>
                            <a:rPr lang="en-US" sz="1600" kern="100" dirty="0" err="1">
                              <a:effectLst/>
                              <a:latin typeface="Times New Roman" panose="02020603050405020304" pitchFamily="18" charset="0"/>
                              <a:ea typeface="맑은 고딕" panose="020B0503020000020004" pitchFamily="50" charset="-127"/>
                              <a:cs typeface="Times New Roman" panose="02020603050405020304" pitchFamily="18" charset="0"/>
                            </a:rPr>
                            <a:t>acc</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4533737"/>
                      </a:ext>
                    </a:extLst>
                  </a:tr>
                  <a:tr h="561234">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tuned</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6</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0.2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(Pooling </a:t>
                          </a: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Layer)</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16-64</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3</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155.145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0.961</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1965917"/>
                      </a:ext>
                    </a:extLst>
                  </a:tr>
                </a:tbl>
              </a:graphicData>
            </a:graphic>
          </p:graphicFrame>
        </mc:Choice>
        <mc:Fallback xmlns="">
          <p:graphicFrame>
            <p:nvGraphicFramePr>
              <p:cNvPr id="7" name="내용 개체 틀 3"/>
              <p:cNvGraphicFramePr>
                <a:graphicFrameLocks/>
              </p:cNvGraphicFramePr>
              <p:nvPr>
                <p:extLst>
                  <p:ext uri="{D42A27DB-BD31-4B8C-83A1-F6EECF244321}">
                    <p14:modId xmlns:p14="http://schemas.microsoft.com/office/powerpoint/2010/main" val="4262626657"/>
                  </p:ext>
                </p:extLst>
              </p:nvPr>
            </p:nvGraphicFramePr>
            <p:xfrm>
              <a:off x="527436" y="5440101"/>
              <a:ext cx="11074129" cy="1122468"/>
            </p:xfrm>
            <a:graphic>
              <a:graphicData uri="http://schemas.openxmlformats.org/drawingml/2006/table">
                <a:tbl>
                  <a:tblPr firstRow="1" firstCol="1" bandRow="1"/>
                  <a:tblGrid>
                    <a:gridCol w="1079936">
                      <a:extLst>
                        <a:ext uri="{9D8B030D-6E8A-4147-A177-3AD203B41FA5}">
                          <a16:colId xmlns:a16="http://schemas.microsoft.com/office/drawing/2014/main" val="3300978033"/>
                        </a:ext>
                      </a:extLst>
                    </a:gridCol>
                    <a:gridCol w="1001465">
                      <a:extLst>
                        <a:ext uri="{9D8B030D-6E8A-4147-A177-3AD203B41FA5}">
                          <a16:colId xmlns:a16="http://schemas.microsoft.com/office/drawing/2014/main" val="12145729"/>
                        </a:ext>
                      </a:extLst>
                    </a:gridCol>
                    <a:gridCol w="1133186">
                      <a:extLst>
                        <a:ext uri="{9D8B030D-6E8A-4147-A177-3AD203B41FA5}">
                          <a16:colId xmlns:a16="http://schemas.microsoft.com/office/drawing/2014/main" val="2128027429"/>
                        </a:ext>
                      </a:extLst>
                    </a:gridCol>
                    <a:gridCol w="1068833">
                      <a:extLst>
                        <a:ext uri="{9D8B030D-6E8A-4147-A177-3AD203B41FA5}">
                          <a16:colId xmlns:a16="http://schemas.microsoft.com/office/drawing/2014/main" val="2068763206"/>
                        </a:ext>
                      </a:extLst>
                    </a:gridCol>
                    <a:gridCol w="1597483">
                      <a:extLst>
                        <a:ext uri="{9D8B030D-6E8A-4147-A177-3AD203B41FA5}">
                          <a16:colId xmlns:a16="http://schemas.microsoft.com/office/drawing/2014/main" val="1252958954"/>
                        </a:ext>
                      </a:extLst>
                    </a:gridCol>
                    <a:gridCol w="862269">
                      <a:extLst>
                        <a:ext uri="{9D8B030D-6E8A-4147-A177-3AD203B41FA5}">
                          <a16:colId xmlns:a16="http://schemas.microsoft.com/office/drawing/2014/main" val="3262817614"/>
                        </a:ext>
                      </a:extLst>
                    </a:gridCol>
                    <a:gridCol w="1015478">
                      <a:extLst>
                        <a:ext uri="{9D8B030D-6E8A-4147-A177-3AD203B41FA5}">
                          <a16:colId xmlns:a16="http://schemas.microsoft.com/office/drawing/2014/main" val="1464081703"/>
                        </a:ext>
                      </a:extLst>
                    </a:gridCol>
                    <a:gridCol w="1278921">
                      <a:extLst>
                        <a:ext uri="{9D8B030D-6E8A-4147-A177-3AD203B41FA5}">
                          <a16:colId xmlns:a16="http://schemas.microsoft.com/office/drawing/2014/main" val="3267958908"/>
                        </a:ext>
                      </a:extLst>
                    </a:gridCol>
                    <a:gridCol w="1278921">
                      <a:extLst>
                        <a:ext uri="{9D8B030D-6E8A-4147-A177-3AD203B41FA5}">
                          <a16:colId xmlns:a16="http://schemas.microsoft.com/office/drawing/2014/main" val="3903553445"/>
                        </a:ext>
                      </a:extLst>
                    </a:gridCol>
                    <a:gridCol w="757637">
                      <a:extLst>
                        <a:ext uri="{9D8B030D-6E8A-4147-A177-3AD203B41FA5}">
                          <a16:colId xmlns:a16="http://schemas.microsoft.com/office/drawing/2014/main" val="3342904220"/>
                        </a:ext>
                      </a:extLst>
                    </a:gridCol>
                  </a:tblGrid>
                  <a:tr h="561234">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c</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fc</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dirty="0">
                              <a:effectLst/>
                              <a:latin typeface="Times New Roman" panose="02020603050405020304" pitchFamily="18" charset="0"/>
                              <a:ea typeface="맑은 고딕" panose="020B0503020000020004" pitchFamily="50" charset="-127"/>
                              <a:cs typeface="Times New Roman" panose="02020603050405020304" pitchFamily="18" charset="0"/>
                            </a:rPr>
                            <a:t>d</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ko-K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79577" t="-10753" r="-501408" b="-110753"/>
                          </a:stretch>
                        </a:blipFill>
                      </a:tcPr>
                    </a:tc>
                    <a:tc>
                      <a:txBody>
                        <a:bodyPr/>
                        <a:lstStyle/>
                        <a:p>
                          <a:endParaRPr lang="ko-K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62874" t="-10753" r="-326347" b="-110753"/>
                          </a:stretch>
                        </a:blipFill>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test </a:t>
                          </a:r>
                          <a:r>
                            <a:rPr lang="en-US" sz="1600" kern="100" dirty="0" err="1">
                              <a:effectLst/>
                              <a:latin typeface="Times New Roman" panose="02020603050405020304" pitchFamily="18" charset="0"/>
                              <a:ea typeface="맑은 고딕" panose="020B0503020000020004" pitchFamily="50" charset="-127"/>
                              <a:cs typeface="Times New Roman" panose="02020603050405020304" pitchFamily="18" charset="0"/>
                            </a:rPr>
                            <a:t>acc</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4533737"/>
                      </a:ext>
                    </a:extLst>
                  </a:tr>
                  <a:tr h="561234">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tuned</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6</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0.2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(Pooling </a:t>
                          </a: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Layer)</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16-64</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3</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155.145</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0.961</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1965917"/>
                      </a:ext>
                    </a:extLst>
                  </a:tr>
                </a:tbl>
              </a:graphicData>
            </a:graphic>
          </p:graphicFrame>
        </mc:Fallback>
      </mc:AlternateContent>
    </p:spTree>
    <p:extLst>
      <p:ext uri="{BB962C8B-B14F-4D97-AF65-F5344CB8AC3E}">
        <p14:creationId xmlns:p14="http://schemas.microsoft.com/office/powerpoint/2010/main" val="22473039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latin typeface="Times New Roman" panose="02020603050405020304" pitchFamily="18" charset="0"/>
                <a:cs typeface="Times New Roman" panose="02020603050405020304" pitchFamily="18" charset="0"/>
              </a:rPr>
              <a:t>3. Recurrent </a:t>
            </a:r>
            <a:r>
              <a:rPr lang="en-US" altLang="ko-KR" dirty="0">
                <a:latin typeface="Times New Roman" panose="02020603050405020304" pitchFamily="18" charset="0"/>
                <a:cs typeface="Times New Roman" panose="02020603050405020304" pitchFamily="18" charset="0"/>
              </a:rPr>
              <a:t>Neural Network </a:t>
            </a:r>
            <a:r>
              <a:rPr lang="en-US" altLang="ko-KR" dirty="0" smtClean="0">
                <a:latin typeface="Times New Roman" panose="02020603050405020304" pitchFamily="18" charset="0"/>
                <a:cs typeface="Times New Roman" panose="02020603050405020304" pitchFamily="18" charset="0"/>
              </a:rPr>
              <a:t>(</a:t>
            </a:r>
            <a:r>
              <a:rPr lang="en-US" altLang="ko-KR" dirty="0">
                <a:latin typeface="Times New Roman" panose="02020603050405020304" pitchFamily="18" charset="0"/>
                <a:cs typeface="Times New Roman" panose="02020603050405020304" pitchFamily="18" charset="0"/>
              </a:rPr>
              <a:t>R</a:t>
            </a:r>
            <a:r>
              <a:rPr lang="en-US" altLang="ko-KR" dirty="0" smtClean="0">
                <a:latin typeface="Times New Roman" panose="02020603050405020304" pitchFamily="18" charset="0"/>
                <a:cs typeface="Times New Roman" panose="02020603050405020304" pitchFamily="18" charset="0"/>
              </a:rPr>
              <a:t>NN</a:t>
            </a:r>
            <a:r>
              <a:rPr lang="en-US" altLang="ko-KR" dirty="0">
                <a:latin typeface="Times New Roman" panose="02020603050405020304" pitchFamily="18" charset="0"/>
                <a:cs typeface="Times New Roman" panose="02020603050405020304" pitchFamily="18" charset="0"/>
              </a:rPr>
              <a:t>)</a:t>
            </a:r>
            <a:endParaRPr lang="ko-KR" altLang="en-US" dirty="0"/>
          </a:p>
        </p:txBody>
      </p:sp>
      <p:sp>
        <p:nvSpPr>
          <p:cNvPr id="3" name="내용 개체 틀 2"/>
          <p:cNvSpPr>
            <a:spLocks noGrp="1"/>
          </p:cNvSpPr>
          <p:nvPr>
            <p:ph idx="1"/>
          </p:nvPr>
        </p:nvSpPr>
        <p:spPr/>
        <p:txBody>
          <a:bodyPr>
            <a:noAutofit/>
          </a:bodyPr>
          <a:lstStyle/>
          <a:p>
            <a:pPr marL="0" lvl="0" indent="0">
              <a:buNone/>
            </a:pPr>
            <a:r>
              <a:rPr lang="en-US" altLang="ko-KR" b="1" dirty="0" smtClean="0">
                <a:solidFill>
                  <a:prstClr val="black"/>
                </a:solidFill>
                <a:latin typeface="Times New Roman" panose="02020603050405020304" pitchFamily="18" charset="0"/>
                <a:cs typeface="Times New Roman" panose="02020603050405020304" pitchFamily="18" charset="0"/>
              </a:rPr>
              <a:t>3.1 </a:t>
            </a:r>
            <a:r>
              <a:rPr lang="en-US" altLang="ko-KR" b="1" dirty="0">
                <a:solidFill>
                  <a:prstClr val="black"/>
                </a:solidFill>
                <a:latin typeface="Times New Roman" panose="02020603050405020304" pitchFamily="18" charset="0"/>
                <a:cs typeface="Times New Roman" panose="02020603050405020304" pitchFamily="18" charset="0"/>
              </a:rPr>
              <a:t>Training Data and Batching</a:t>
            </a:r>
          </a:p>
          <a:p>
            <a:pPr marL="0" lvl="0" indent="0">
              <a:buNone/>
            </a:pPr>
            <a:r>
              <a:rPr lang="en-US" altLang="ko-KR" sz="1800" dirty="0">
                <a:solidFill>
                  <a:prstClr val="black"/>
                </a:solidFill>
                <a:latin typeface="Times New Roman" panose="02020603050405020304" pitchFamily="18" charset="0"/>
                <a:cs typeface="Times New Roman" panose="02020603050405020304" pitchFamily="18" charset="0"/>
              </a:rPr>
              <a:t>The model was trained on </a:t>
            </a:r>
            <a:r>
              <a:rPr lang="en-US" altLang="ko-KR" sz="1800" dirty="0" smtClean="0">
                <a:solidFill>
                  <a:prstClr val="black"/>
                </a:solidFill>
                <a:latin typeface="Times New Roman" panose="02020603050405020304" pitchFamily="18" charset="0"/>
                <a:cs typeface="Times New Roman" panose="02020603050405020304" pitchFamily="18" charset="0"/>
              </a:rPr>
              <a:t>PTB </a:t>
            </a:r>
            <a:r>
              <a:rPr lang="en-US" altLang="ko-KR" sz="1800" dirty="0">
                <a:solidFill>
                  <a:prstClr val="black"/>
                </a:solidFill>
                <a:latin typeface="Times New Roman" panose="02020603050405020304" pitchFamily="18" charset="0"/>
                <a:cs typeface="Times New Roman" panose="02020603050405020304" pitchFamily="18" charset="0"/>
              </a:rPr>
              <a:t>data </a:t>
            </a:r>
            <a:r>
              <a:rPr lang="en-US" altLang="ko-KR" sz="1800" dirty="0" smtClean="0">
                <a:solidFill>
                  <a:prstClr val="black"/>
                </a:solidFill>
                <a:latin typeface="Times New Roman" panose="02020603050405020304" pitchFamily="18" charset="0"/>
                <a:cs typeface="Times New Roman" panose="02020603050405020304" pitchFamily="18" charset="0"/>
              </a:rPr>
              <a:t>set. The train corpus has a length of 300,000 while test corpus has 30,000.  4 </a:t>
            </a:r>
            <a:r>
              <a:rPr lang="en-US" altLang="ko-KR" sz="1800" dirty="0">
                <a:solidFill>
                  <a:prstClr val="black"/>
                </a:solidFill>
                <a:latin typeface="Times New Roman" panose="02020603050405020304" pitchFamily="18" charset="0"/>
                <a:cs typeface="Times New Roman" panose="02020603050405020304" pitchFamily="18" charset="0"/>
              </a:rPr>
              <a:t>epochs are </a:t>
            </a:r>
            <a:r>
              <a:rPr lang="en-US" altLang="ko-KR" sz="1800" dirty="0" smtClean="0">
                <a:solidFill>
                  <a:prstClr val="black"/>
                </a:solidFill>
                <a:latin typeface="Times New Roman" panose="02020603050405020304" pitchFamily="18" charset="0"/>
                <a:cs typeface="Times New Roman" panose="02020603050405020304" pitchFamily="18" charset="0"/>
              </a:rPr>
              <a:t>executed with batch size of 100.</a:t>
            </a:r>
            <a:endParaRPr lang="en-US" altLang="ko-KR" sz="1800" dirty="0">
              <a:solidFill>
                <a:prstClr val="black"/>
              </a:solidFill>
              <a:latin typeface="Times New Roman" panose="02020603050405020304" pitchFamily="18" charset="0"/>
              <a:cs typeface="Times New Roman" panose="02020603050405020304" pitchFamily="18" charset="0"/>
            </a:endParaRPr>
          </a:p>
          <a:p>
            <a:pPr marL="0" lvl="0" indent="0">
              <a:buNone/>
            </a:pPr>
            <a:endParaRPr lang="en-US" altLang="ko-KR" b="1" dirty="0">
              <a:solidFill>
                <a:prstClr val="black"/>
              </a:solidFill>
              <a:latin typeface="Times New Roman" panose="02020603050405020304" pitchFamily="18" charset="0"/>
              <a:cs typeface="Times New Roman" panose="02020603050405020304" pitchFamily="18" charset="0"/>
            </a:endParaRPr>
          </a:p>
          <a:p>
            <a:pPr marL="0" lvl="0" indent="0">
              <a:buNone/>
            </a:pPr>
            <a:r>
              <a:rPr lang="en-US" altLang="ko-KR" b="1" dirty="0" smtClean="0">
                <a:solidFill>
                  <a:prstClr val="black"/>
                </a:solidFill>
                <a:latin typeface="Times New Roman" panose="02020603050405020304" pitchFamily="18" charset="0"/>
                <a:cs typeface="Times New Roman" panose="02020603050405020304" pitchFamily="18" charset="0"/>
              </a:rPr>
              <a:t>3.2 </a:t>
            </a:r>
            <a:r>
              <a:rPr lang="en-US" altLang="ko-KR" b="1" dirty="0">
                <a:solidFill>
                  <a:prstClr val="black"/>
                </a:solidFill>
                <a:latin typeface="Times New Roman" panose="02020603050405020304" pitchFamily="18" charset="0"/>
                <a:cs typeface="Times New Roman" panose="02020603050405020304" pitchFamily="18" charset="0"/>
              </a:rPr>
              <a:t>Optimizer</a:t>
            </a:r>
          </a:p>
          <a:p>
            <a:pPr marL="0" lvl="0" indent="0">
              <a:buNone/>
            </a:pPr>
            <a:r>
              <a:rPr lang="en-US" altLang="ko-KR" sz="1800" dirty="0">
                <a:solidFill>
                  <a:prstClr val="black"/>
                </a:solidFill>
                <a:latin typeface="Times New Roman" panose="02020603050405020304" pitchFamily="18" charset="0"/>
                <a:cs typeface="Times New Roman" panose="02020603050405020304" pitchFamily="18" charset="0"/>
              </a:rPr>
              <a:t>The base model used </a:t>
            </a:r>
            <a:r>
              <a:rPr lang="en-US" altLang="ko-KR" sz="1800" dirty="0" smtClean="0">
                <a:solidFill>
                  <a:prstClr val="black"/>
                </a:solidFill>
                <a:latin typeface="Times New Roman" panose="02020603050405020304" pitchFamily="18" charset="0"/>
                <a:cs typeface="Times New Roman" panose="02020603050405020304" pitchFamily="18" charset="0"/>
              </a:rPr>
              <a:t>stochastic gradient descent (SGD) </a:t>
            </a:r>
            <a:r>
              <a:rPr lang="en-US" altLang="ko-KR" sz="1800" dirty="0">
                <a:solidFill>
                  <a:prstClr val="black"/>
                </a:solidFill>
                <a:latin typeface="Times New Roman" panose="02020603050405020304" pitchFamily="18" charset="0"/>
                <a:cs typeface="Times New Roman" panose="02020603050405020304" pitchFamily="18" charset="0"/>
              </a:rPr>
              <a:t>with </a:t>
            </a:r>
            <a:r>
              <a:rPr lang="en-US" altLang="ko-KR" sz="1800" dirty="0" smtClean="0">
                <a:solidFill>
                  <a:prstClr val="black"/>
                </a:solidFill>
                <a:latin typeface="Times New Roman" panose="02020603050405020304" pitchFamily="18" charset="0"/>
                <a:cs typeface="Times New Roman" panose="02020603050405020304" pitchFamily="18" charset="0"/>
              </a:rPr>
              <a:t>ŋ=0.1.</a:t>
            </a:r>
            <a:endParaRPr lang="en-US" altLang="ko-KR" sz="1800" dirty="0">
              <a:solidFill>
                <a:prstClr val="black"/>
              </a:solidFill>
              <a:latin typeface="Times New Roman" panose="02020603050405020304" pitchFamily="18" charset="0"/>
              <a:cs typeface="Times New Roman" panose="02020603050405020304" pitchFamily="18" charset="0"/>
            </a:endParaRPr>
          </a:p>
          <a:p>
            <a:pPr marL="0" lvl="0" indent="0">
              <a:buNone/>
            </a:pPr>
            <a:endParaRPr lang="en-US" altLang="ko-KR" sz="4400" b="1" dirty="0">
              <a:solidFill>
                <a:prstClr val="black"/>
              </a:solidFill>
              <a:latin typeface="Times New Roman" panose="02020603050405020304" pitchFamily="18" charset="0"/>
              <a:cs typeface="Times New Roman" panose="02020603050405020304" pitchFamily="18" charset="0"/>
            </a:endParaRPr>
          </a:p>
          <a:p>
            <a:pPr marL="0" lvl="0" indent="0">
              <a:buNone/>
            </a:pPr>
            <a:r>
              <a:rPr lang="en-US" altLang="ko-KR" b="1" dirty="0" smtClean="0">
                <a:solidFill>
                  <a:prstClr val="black"/>
                </a:solidFill>
                <a:latin typeface="Times New Roman" panose="02020603050405020304" pitchFamily="18" charset="0"/>
                <a:cs typeface="Times New Roman" panose="02020603050405020304" pitchFamily="18" charset="0"/>
              </a:rPr>
              <a:t>3.3 </a:t>
            </a:r>
            <a:r>
              <a:rPr lang="en-US" altLang="ko-KR" b="1" dirty="0">
                <a:solidFill>
                  <a:prstClr val="black"/>
                </a:solidFill>
                <a:latin typeface="Times New Roman" panose="02020603050405020304" pitchFamily="18" charset="0"/>
                <a:cs typeface="Times New Roman" panose="02020603050405020304" pitchFamily="18" charset="0"/>
              </a:rPr>
              <a:t>Regularization</a:t>
            </a:r>
          </a:p>
          <a:p>
            <a:pPr marL="0" lvl="0" indent="0">
              <a:buNone/>
            </a:pPr>
            <a:r>
              <a:rPr lang="en-US" altLang="ko-KR" sz="1800" b="1" dirty="0">
                <a:solidFill>
                  <a:prstClr val="black"/>
                </a:solidFill>
                <a:latin typeface="Times New Roman" panose="02020603050405020304" pitchFamily="18" charset="0"/>
                <a:cs typeface="Times New Roman" panose="02020603050405020304" pitchFamily="18" charset="0"/>
              </a:rPr>
              <a:t>Dropout </a:t>
            </a:r>
            <a:r>
              <a:rPr lang="en-US" altLang="ko-KR" sz="1800" dirty="0" err="1">
                <a:solidFill>
                  <a:prstClr val="black"/>
                </a:solidFill>
                <a:latin typeface="Times New Roman" panose="02020603050405020304" pitchFamily="18" charset="0"/>
                <a:cs typeface="Times New Roman" panose="02020603050405020304" pitchFamily="18" charset="0"/>
              </a:rPr>
              <a:t>Dropout</a:t>
            </a:r>
            <a:r>
              <a:rPr lang="en-US" altLang="ko-KR" sz="1800" dirty="0">
                <a:solidFill>
                  <a:prstClr val="black"/>
                </a:solidFill>
                <a:latin typeface="Times New Roman" panose="02020603050405020304" pitchFamily="18" charset="0"/>
                <a:cs typeface="Times New Roman" panose="02020603050405020304" pitchFamily="18" charset="0"/>
              </a:rPr>
              <a:t> is applied </a:t>
            </a:r>
            <a:r>
              <a:rPr lang="en-US" altLang="ko-KR" sz="1800" dirty="0" smtClean="0">
                <a:solidFill>
                  <a:prstClr val="black"/>
                </a:solidFill>
                <a:latin typeface="Times New Roman" panose="02020603050405020304" pitchFamily="18" charset="0"/>
                <a:cs typeface="Times New Roman" panose="02020603050405020304" pitchFamily="18" charset="0"/>
              </a:rPr>
              <a:t>after embedding layers and RNN layers in tuned models.</a:t>
            </a:r>
            <a:endParaRPr lang="ko-KR" altLang="en-US" sz="1800" dirty="0"/>
          </a:p>
        </p:txBody>
      </p:sp>
    </p:spTree>
    <p:extLst>
      <p:ext uri="{BB962C8B-B14F-4D97-AF65-F5344CB8AC3E}">
        <p14:creationId xmlns:p14="http://schemas.microsoft.com/office/powerpoint/2010/main" val="8639052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내용 개체 틀 5"/>
          <p:cNvGraphicFramePr>
            <a:graphicFrameLocks noGrp="1"/>
          </p:cNvGraphicFramePr>
          <p:nvPr>
            <p:ph idx="1"/>
            <p:extLst>
              <p:ext uri="{D42A27DB-BD31-4B8C-83A1-F6EECF244321}">
                <p14:modId xmlns:p14="http://schemas.microsoft.com/office/powerpoint/2010/main" val="1865243039"/>
              </p:ext>
            </p:extLst>
          </p:nvPr>
        </p:nvGraphicFramePr>
        <p:xfrm>
          <a:off x="826936" y="1598214"/>
          <a:ext cx="10161767" cy="4383904"/>
        </p:xfrm>
        <a:graphic>
          <a:graphicData uri="http://schemas.openxmlformats.org/drawingml/2006/table">
            <a:tbl>
              <a:tblPr firstRow="1" firstCol="1" bandRow="1"/>
              <a:tblGrid>
                <a:gridCol w="1119749">
                  <a:extLst>
                    <a:ext uri="{9D8B030D-6E8A-4147-A177-3AD203B41FA5}">
                      <a16:colId xmlns:a16="http://schemas.microsoft.com/office/drawing/2014/main" val="1489553887"/>
                    </a:ext>
                  </a:extLst>
                </a:gridCol>
                <a:gridCol w="1047443">
                  <a:extLst>
                    <a:ext uri="{9D8B030D-6E8A-4147-A177-3AD203B41FA5}">
                      <a16:colId xmlns:a16="http://schemas.microsoft.com/office/drawing/2014/main" val="3165689291"/>
                    </a:ext>
                  </a:extLst>
                </a:gridCol>
                <a:gridCol w="1182283">
                  <a:extLst>
                    <a:ext uri="{9D8B030D-6E8A-4147-A177-3AD203B41FA5}">
                      <a16:colId xmlns:a16="http://schemas.microsoft.com/office/drawing/2014/main" val="1163938272"/>
                    </a:ext>
                  </a:extLst>
                </a:gridCol>
                <a:gridCol w="1653241">
                  <a:extLst>
                    <a:ext uri="{9D8B030D-6E8A-4147-A177-3AD203B41FA5}">
                      <a16:colId xmlns:a16="http://schemas.microsoft.com/office/drawing/2014/main" val="2345323469"/>
                    </a:ext>
                  </a:extLst>
                </a:gridCol>
                <a:gridCol w="1653241">
                  <a:extLst>
                    <a:ext uri="{9D8B030D-6E8A-4147-A177-3AD203B41FA5}">
                      <a16:colId xmlns:a16="http://schemas.microsoft.com/office/drawing/2014/main" val="2073586848"/>
                    </a:ext>
                  </a:extLst>
                </a:gridCol>
                <a:gridCol w="1329823">
                  <a:extLst>
                    <a:ext uri="{9D8B030D-6E8A-4147-A177-3AD203B41FA5}">
                      <a16:colId xmlns:a16="http://schemas.microsoft.com/office/drawing/2014/main" val="3519774908"/>
                    </a:ext>
                  </a:extLst>
                </a:gridCol>
                <a:gridCol w="1329823">
                  <a:extLst>
                    <a:ext uri="{9D8B030D-6E8A-4147-A177-3AD203B41FA5}">
                      <a16:colId xmlns:a16="http://schemas.microsoft.com/office/drawing/2014/main" val="2291829443"/>
                    </a:ext>
                  </a:extLst>
                </a:gridCol>
                <a:gridCol w="846164">
                  <a:extLst>
                    <a:ext uri="{9D8B030D-6E8A-4147-A177-3AD203B41FA5}">
                      <a16:colId xmlns:a16="http://schemas.microsoft.com/office/drawing/2014/main" val="1079566583"/>
                    </a:ext>
                  </a:extLst>
                </a:gridCol>
              </a:tblGrid>
              <a:tr h="402625">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w</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n</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lr</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PPL</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5887511"/>
                  </a:ext>
                </a:extLst>
              </a:tr>
              <a:tr h="402625">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base</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100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(LSTM)</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SGD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0.1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3000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284.218</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306.361</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2154292"/>
                  </a:ext>
                </a:extLst>
              </a:tr>
              <a:tr h="402625">
                <a:tc rowSpan="2">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(A)</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150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369.906</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376.547</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42925948"/>
                  </a:ext>
                </a:extLst>
              </a:tr>
              <a:tr h="402625">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200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448.085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317.120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4030841"/>
                  </a:ext>
                </a:extLst>
              </a:tr>
              <a:tr h="402625">
                <a:tc rowSpan="2">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(B)</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altLang="ko-KR" sz="1600" kern="100" dirty="0" smtClean="0">
                          <a:effectLst/>
                          <a:latin typeface="맑은 고딕" panose="020B0503020000020004" pitchFamily="50" charset="-127"/>
                          <a:ea typeface="맑은 고딕" panose="020B0503020000020004" pitchFamily="50" charset="-127"/>
                          <a:cs typeface="Times New Roman" panose="02020603050405020304" pitchFamily="18" charset="0"/>
                        </a:rPr>
                        <a:t>1</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(LSTM)</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327.892</a:t>
                      </a:r>
                      <a:endParaRPr lang="ko-KR" sz="16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324.012</a:t>
                      </a:r>
                      <a:endParaRPr lang="ko-KR" sz="16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603109550"/>
                  </a:ext>
                </a:extLst>
              </a:tr>
              <a:tr h="402625">
                <a:tc vMerge="1">
                  <a:txBody>
                    <a:bodyPr/>
                    <a:lstStyle/>
                    <a:p>
                      <a:pPr latinLnBrk="1"/>
                      <a:endParaRPr lang="ko-KR" altLang="en-US"/>
                    </a:p>
                  </a:txBody>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(LSTM)</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423.698</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mn-ea"/>
                          <a:cs typeface="Times New Roman" panose="02020603050405020304" pitchFamily="18" charset="0"/>
                        </a:rPr>
                        <a:t>491.910</a:t>
                      </a:r>
                      <a:endParaRPr lang="ko-KR" altLang="ko-KR" sz="1600" kern="100" dirty="0">
                        <a:effectLst/>
                        <a:latin typeface="맑은 고딕" panose="020B0503020000020004" pitchFamily="50" charset="-127"/>
                        <a:ea typeface="+mn-ea"/>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4884299"/>
                  </a:ext>
                </a:extLst>
              </a:tr>
              <a:tr h="402625">
                <a:tc rowSpan="3">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(C)</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tc>
                  <a:txBody>
                    <a:bodyPr/>
                    <a:lstStyle/>
                    <a:p>
                      <a:pPr algn="ctr" latinLnBrk="1">
                        <a:lnSpc>
                          <a:spcPct val="107000"/>
                        </a:lnSpc>
                        <a:spcAft>
                          <a:spcPts val="0"/>
                        </a:spcAft>
                      </a:pP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0.01</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289.722</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223.103</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318476736"/>
                  </a:ext>
                </a:extLst>
              </a:tr>
              <a:tr h="402625">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0.1</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499.927</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368.760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728885036"/>
                  </a:ext>
                </a:extLst>
              </a:tr>
              <a:tr h="402625">
                <a:tc v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RMSprop</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0.01</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292.042</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b="1" kern="100" dirty="0">
                          <a:effectLst/>
                          <a:latin typeface="Times New Roman" panose="02020603050405020304" pitchFamily="18" charset="0"/>
                          <a:ea typeface="맑은 고딕" panose="020B0503020000020004" pitchFamily="50" charset="-127"/>
                          <a:cs typeface="Times New Roman" panose="02020603050405020304" pitchFamily="18" charset="0"/>
                        </a:rPr>
                        <a:t>208.837</a:t>
                      </a:r>
                      <a:endParaRPr lang="ko-KR" sz="1600" b="1"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5932090"/>
                  </a:ext>
                </a:extLst>
              </a:tr>
              <a:tr h="402625">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use </a:t>
                      </a: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dropout and weight tying</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374.415</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372.277</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2498182"/>
                  </a:ext>
                </a:extLst>
              </a:tr>
            </a:tbl>
          </a:graphicData>
        </a:graphic>
      </p:graphicFrame>
      <p:sp>
        <p:nvSpPr>
          <p:cNvPr id="4" name="직사각형 3"/>
          <p:cNvSpPr/>
          <p:nvPr/>
        </p:nvSpPr>
        <p:spPr>
          <a:xfrm>
            <a:off x="650681" y="566241"/>
            <a:ext cx="10890637" cy="646331"/>
          </a:xfrm>
          <a:prstGeom prst="rect">
            <a:avLst/>
          </a:prstGeom>
        </p:spPr>
        <p:txBody>
          <a:bodyPr wrap="square">
            <a:spAutoFit/>
          </a:bodyPr>
          <a:lstStyle/>
          <a:p>
            <a:r>
              <a:rPr lang="en-US" altLang="ko-KR" dirty="0">
                <a:latin typeface="Times New Roman" panose="02020603050405020304" pitchFamily="18" charset="0"/>
              </a:rPr>
              <a:t>Table 3: Variations on the recurrent neural network language model architecture. Unlisted values are identical to those of the base model.</a:t>
            </a:r>
            <a:endParaRPr lang="ko-KR" altLang="en-US" dirty="0"/>
          </a:p>
        </p:txBody>
      </p:sp>
    </p:spTree>
    <p:extLst>
      <p:ext uri="{BB962C8B-B14F-4D97-AF65-F5344CB8AC3E}">
        <p14:creationId xmlns:p14="http://schemas.microsoft.com/office/powerpoint/2010/main" val="8252520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graphicFrame>
        <p:nvGraphicFramePr>
          <p:cNvPr id="6" name="내용 개체 틀 5"/>
          <p:cNvGraphicFramePr>
            <a:graphicFrameLocks noGrp="1"/>
          </p:cNvGraphicFramePr>
          <p:nvPr>
            <p:ph idx="1"/>
            <p:extLst>
              <p:ext uri="{D42A27DB-BD31-4B8C-83A1-F6EECF244321}">
                <p14:modId xmlns:p14="http://schemas.microsoft.com/office/powerpoint/2010/main" val="2058528784"/>
              </p:ext>
            </p:extLst>
          </p:nvPr>
        </p:nvGraphicFramePr>
        <p:xfrm>
          <a:off x="514651" y="3716935"/>
          <a:ext cx="11006788" cy="815308"/>
        </p:xfrm>
        <a:graphic>
          <a:graphicData uri="http://schemas.openxmlformats.org/drawingml/2006/table">
            <a:tbl>
              <a:tblPr firstRow="1" firstCol="1" bandRow="1"/>
              <a:tblGrid>
                <a:gridCol w="1340764">
                  <a:extLst>
                    <a:ext uri="{9D8B030D-6E8A-4147-A177-3AD203B41FA5}">
                      <a16:colId xmlns:a16="http://schemas.microsoft.com/office/drawing/2014/main" val="3122276551"/>
                    </a:ext>
                  </a:extLst>
                </a:gridCol>
                <a:gridCol w="1243338">
                  <a:extLst>
                    <a:ext uri="{9D8B030D-6E8A-4147-A177-3AD203B41FA5}">
                      <a16:colId xmlns:a16="http://schemas.microsoft.com/office/drawing/2014/main" val="1070800599"/>
                    </a:ext>
                  </a:extLst>
                </a:gridCol>
                <a:gridCol w="1243338">
                  <a:extLst>
                    <a:ext uri="{9D8B030D-6E8A-4147-A177-3AD203B41FA5}">
                      <a16:colId xmlns:a16="http://schemas.microsoft.com/office/drawing/2014/main" val="435472884"/>
                    </a:ext>
                  </a:extLst>
                </a:gridCol>
                <a:gridCol w="1406874">
                  <a:extLst>
                    <a:ext uri="{9D8B030D-6E8A-4147-A177-3AD203B41FA5}">
                      <a16:colId xmlns:a16="http://schemas.microsoft.com/office/drawing/2014/main" val="1369581922"/>
                    </a:ext>
                  </a:extLst>
                </a:gridCol>
                <a:gridCol w="1983309">
                  <a:extLst>
                    <a:ext uri="{9D8B030D-6E8A-4147-A177-3AD203B41FA5}">
                      <a16:colId xmlns:a16="http://schemas.microsoft.com/office/drawing/2014/main" val="1012562139"/>
                    </a:ext>
                  </a:extLst>
                </a:gridCol>
                <a:gridCol w="1260736">
                  <a:extLst>
                    <a:ext uri="{9D8B030D-6E8A-4147-A177-3AD203B41FA5}">
                      <a16:colId xmlns:a16="http://schemas.microsoft.com/office/drawing/2014/main" val="3062688131"/>
                    </a:ext>
                  </a:extLst>
                </a:gridCol>
                <a:gridCol w="1587807">
                  <a:extLst>
                    <a:ext uri="{9D8B030D-6E8A-4147-A177-3AD203B41FA5}">
                      <a16:colId xmlns:a16="http://schemas.microsoft.com/office/drawing/2014/main" val="2785685303"/>
                    </a:ext>
                  </a:extLst>
                </a:gridCol>
                <a:gridCol w="940622">
                  <a:extLst>
                    <a:ext uri="{9D8B030D-6E8A-4147-A177-3AD203B41FA5}">
                      <a16:colId xmlns:a16="http://schemas.microsoft.com/office/drawing/2014/main" val="3077635396"/>
                    </a:ext>
                  </a:extLst>
                </a:gridCol>
              </a:tblGrid>
              <a:tr h="271769">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w</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n</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lr</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PPL</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563011"/>
                  </a:ext>
                </a:extLst>
              </a:tr>
              <a:tr h="543539">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base</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100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2</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(LSTM)</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SGD</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0.1</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3000</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284.218</a:t>
                      </a:r>
                      <a:endParaRPr lang="ko-KR" sz="16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306.361</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478246"/>
                  </a:ext>
                </a:extLst>
              </a:tr>
            </a:tbl>
          </a:graphicData>
        </a:graphic>
      </p:graphicFrame>
      <p:pic>
        <p:nvPicPr>
          <p:cNvPr id="4" name="그림 3"/>
          <p:cNvPicPr>
            <a:picLocks noChangeAspect="1"/>
          </p:cNvPicPr>
          <p:nvPr/>
        </p:nvPicPr>
        <p:blipFill>
          <a:blip r:embed="rId2"/>
          <a:stretch>
            <a:fillRect/>
          </a:stretch>
        </p:blipFill>
        <p:spPr>
          <a:xfrm>
            <a:off x="246450" y="129084"/>
            <a:ext cx="4715165" cy="3123207"/>
          </a:xfrm>
          <a:prstGeom prst="rect">
            <a:avLst/>
          </a:prstGeom>
        </p:spPr>
      </p:pic>
      <p:graphicFrame>
        <p:nvGraphicFramePr>
          <p:cNvPr id="7" name="내용 개체 틀 5"/>
          <p:cNvGraphicFramePr>
            <a:graphicFrameLocks/>
          </p:cNvGraphicFramePr>
          <p:nvPr>
            <p:extLst>
              <p:ext uri="{D42A27DB-BD31-4B8C-83A1-F6EECF244321}">
                <p14:modId xmlns:p14="http://schemas.microsoft.com/office/powerpoint/2010/main" val="672439111"/>
              </p:ext>
            </p:extLst>
          </p:nvPr>
        </p:nvGraphicFramePr>
        <p:xfrm>
          <a:off x="514651" y="4988936"/>
          <a:ext cx="11006788" cy="815308"/>
        </p:xfrm>
        <a:graphic>
          <a:graphicData uri="http://schemas.openxmlformats.org/drawingml/2006/table">
            <a:tbl>
              <a:tblPr firstRow="1" firstCol="1" bandRow="1"/>
              <a:tblGrid>
                <a:gridCol w="1340764">
                  <a:extLst>
                    <a:ext uri="{9D8B030D-6E8A-4147-A177-3AD203B41FA5}">
                      <a16:colId xmlns:a16="http://schemas.microsoft.com/office/drawing/2014/main" val="3122276551"/>
                    </a:ext>
                  </a:extLst>
                </a:gridCol>
                <a:gridCol w="1243338">
                  <a:extLst>
                    <a:ext uri="{9D8B030D-6E8A-4147-A177-3AD203B41FA5}">
                      <a16:colId xmlns:a16="http://schemas.microsoft.com/office/drawing/2014/main" val="1070800599"/>
                    </a:ext>
                  </a:extLst>
                </a:gridCol>
                <a:gridCol w="1243338">
                  <a:extLst>
                    <a:ext uri="{9D8B030D-6E8A-4147-A177-3AD203B41FA5}">
                      <a16:colId xmlns:a16="http://schemas.microsoft.com/office/drawing/2014/main" val="435472884"/>
                    </a:ext>
                  </a:extLst>
                </a:gridCol>
                <a:gridCol w="1406874">
                  <a:extLst>
                    <a:ext uri="{9D8B030D-6E8A-4147-A177-3AD203B41FA5}">
                      <a16:colId xmlns:a16="http://schemas.microsoft.com/office/drawing/2014/main" val="1369581922"/>
                    </a:ext>
                  </a:extLst>
                </a:gridCol>
                <a:gridCol w="1983309">
                  <a:extLst>
                    <a:ext uri="{9D8B030D-6E8A-4147-A177-3AD203B41FA5}">
                      <a16:colId xmlns:a16="http://schemas.microsoft.com/office/drawing/2014/main" val="1012562139"/>
                    </a:ext>
                  </a:extLst>
                </a:gridCol>
                <a:gridCol w="1260736">
                  <a:extLst>
                    <a:ext uri="{9D8B030D-6E8A-4147-A177-3AD203B41FA5}">
                      <a16:colId xmlns:a16="http://schemas.microsoft.com/office/drawing/2014/main" val="3062688131"/>
                    </a:ext>
                  </a:extLst>
                </a:gridCol>
                <a:gridCol w="1587807">
                  <a:extLst>
                    <a:ext uri="{9D8B030D-6E8A-4147-A177-3AD203B41FA5}">
                      <a16:colId xmlns:a16="http://schemas.microsoft.com/office/drawing/2014/main" val="2785685303"/>
                    </a:ext>
                  </a:extLst>
                </a:gridCol>
                <a:gridCol w="940622">
                  <a:extLst>
                    <a:ext uri="{9D8B030D-6E8A-4147-A177-3AD203B41FA5}">
                      <a16:colId xmlns:a16="http://schemas.microsoft.com/office/drawing/2014/main" val="3077635396"/>
                    </a:ext>
                  </a:extLst>
                </a:gridCol>
              </a:tblGrid>
              <a:tr h="271769">
                <a:tc>
                  <a:txBody>
                    <a:bodyPr/>
                    <a:lstStyle/>
                    <a:p>
                      <a:pPr algn="just" latinLnBrk="1">
                        <a:lnSpc>
                          <a:spcPct val="107000"/>
                        </a:lnSpc>
                        <a:spcAft>
                          <a:spcPts val="0"/>
                        </a:spcAft>
                      </a:pPr>
                      <a:r>
                        <a:rPr lang="en-US" sz="16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w</a:t>
                      </a:r>
                      <a:endParaRPr lang="ko-KR" sz="16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n</a:t>
                      </a:r>
                      <a:endParaRPr lang="ko-KR" sz="16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6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i="1" kern="100">
                          <a:effectLst/>
                          <a:latin typeface="Times New Roman" panose="02020603050405020304" pitchFamily="18" charset="0"/>
                          <a:ea typeface="맑은 고딕" panose="020B0503020000020004" pitchFamily="50" charset="-127"/>
                          <a:cs typeface="Times New Roman" panose="02020603050405020304" pitchFamily="18" charset="0"/>
                        </a:rPr>
                        <a:t>lr</a:t>
                      </a:r>
                      <a:endParaRPr lang="ko-KR" sz="16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6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6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600" kern="100">
                          <a:effectLst/>
                          <a:latin typeface="Times New Roman" panose="02020603050405020304" pitchFamily="18" charset="0"/>
                          <a:ea typeface="맑은 고딕" panose="020B0503020000020004" pitchFamily="50" charset="-127"/>
                          <a:cs typeface="Times New Roman" panose="02020603050405020304" pitchFamily="18" charset="0"/>
                        </a:rPr>
                        <a:t>PPL</a:t>
                      </a:r>
                      <a:endParaRPr lang="ko-KR" sz="16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563011"/>
                  </a:ext>
                </a:extLst>
              </a:tr>
              <a:tr h="543539">
                <a:tc>
                  <a:txBody>
                    <a:bodyPr/>
                    <a:lstStyle/>
                    <a:p>
                      <a:pPr algn="ctr" latinLnBrk="1">
                        <a:lnSpc>
                          <a:spcPct val="107000"/>
                        </a:lnSpc>
                        <a:spcAft>
                          <a:spcPts val="0"/>
                        </a:spcAft>
                      </a:pPr>
                      <a:r>
                        <a:rPr lang="en-US"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tuned</a:t>
                      </a:r>
                      <a:endParaRPr lang="ko-KR" sz="16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100</a:t>
                      </a:r>
                      <a:endParaRPr lang="ko-KR" sz="16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1</a:t>
                      </a:r>
                    </a:p>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(LSTM)</a:t>
                      </a:r>
                      <a:endParaRPr lang="ko-KR" sz="16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err="1" smtClean="0">
                          <a:effectLst/>
                          <a:latin typeface="Times New Roman" panose="02020603050405020304" pitchFamily="18" charset="0"/>
                          <a:ea typeface="맑은 고딕" panose="020B0503020000020004" pitchFamily="50" charset="-127"/>
                          <a:cs typeface="Times New Roman" panose="02020603050405020304" pitchFamily="18" charset="0"/>
                        </a:rPr>
                        <a:t>RMSprop</a:t>
                      </a:r>
                      <a:endParaRPr lang="ko-KR" sz="16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0.01</a:t>
                      </a:r>
                      <a:endParaRPr lang="ko-KR" sz="16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3000</a:t>
                      </a:r>
                      <a:endParaRPr lang="ko-KR" sz="16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329.620</a:t>
                      </a:r>
                      <a:endParaRPr lang="ko-KR" sz="16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6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83.45</a:t>
                      </a:r>
                      <a:endParaRPr lang="ko-KR" sz="16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478246"/>
                  </a:ext>
                </a:extLst>
              </a:tr>
            </a:tbl>
          </a:graphicData>
        </a:graphic>
      </p:graphicFrame>
      <p:pic>
        <p:nvPicPr>
          <p:cNvPr id="8" name="그림 7"/>
          <p:cNvPicPr>
            <a:picLocks noChangeAspect="1"/>
          </p:cNvPicPr>
          <p:nvPr/>
        </p:nvPicPr>
        <p:blipFill>
          <a:blip r:embed="rId3"/>
          <a:stretch>
            <a:fillRect/>
          </a:stretch>
        </p:blipFill>
        <p:spPr>
          <a:xfrm>
            <a:off x="6391937" y="129084"/>
            <a:ext cx="4793760" cy="3123207"/>
          </a:xfrm>
          <a:prstGeom prst="rect">
            <a:avLst/>
          </a:prstGeom>
        </p:spPr>
      </p:pic>
    </p:spTree>
    <p:extLst>
      <p:ext uri="{BB962C8B-B14F-4D97-AF65-F5344CB8AC3E}">
        <p14:creationId xmlns:p14="http://schemas.microsoft.com/office/powerpoint/2010/main" val="42627505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latin typeface="times" panose="02020603050405020304" pitchFamily="18" charset="0"/>
                <a:cs typeface="times" panose="02020603050405020304" pitchFamily="18" charset="0"/>
              </a:rPr>
              <a:t>4. Sequence to Sequence (seq2seq)</a:t>
            </a:r>
            <a:endParaRPr lang="ko-KR" altLang="en-US" dirty="0">
              <a:latin typeface="times" panose="02020603050405020304" pitchFamily="18" charset="0"/>
              <a:cs typeface="times" panose="02020603050405020304" pitchFamily="18" charset="0"/>
            </a:endParaRPr>
          </a:p>
        </p:txBody>
      </p:sp>
      <p:sp>
        <p:nvSpPr>
          <p:cNvPr id="3" name="내용 개체 틀 2"/>
          <p:cNvSpPr>
            <a:spLocks noGrp="1"/>
          </p:cNvSpPr>
          <p:nvPr>
            <p:ph idx="1"/>
          </p:nvPr>
        </p:nvSpPr>
        <p:spPr/>
        <p:txBody>
          <a:bodyPr>
            <a:normAutofit fontScale="92500"/>
          </a:bodyPr>
          <a:lstStyle/>
          <a:p>
            <a:pPr marL="0" lvl="0" indent="0">
              <a:buNone/>
            </a:pPr>
            <a:r>
              <a:rPr lang="en-US" altLang="ko-KR" b="1" dirty="0" smtClean="0">
                <a:solidFill>
                  <a:prstClr val="black"/>
                </a:solidFill>
                <a:latin typeface="Times New Roman" panose="02020603050405020304" pitchFamily="18" charset="0"/>
                <a:cs typeface="Times New Roman" panose="02020603050405020304" pitchFamily="18" charset="0"/>
              </a:rPr>
              <a:t>4.1 </a:t>
            </a:r>
            <a:r>
              <a:rPr lang="en-US" altLang="ko-KR" b="1" dirty="0">
                <a:solidFill>
                  <a:prstClr val="black"/>
                </a:solidFill>
                <a:latin typeface="Times New Roman" panose="02020603050405020304" pitchFamily="18" charset="0"/>
                <a:cs typeface="Times New Roman" panose="02020603050405020304" pitchFamily="18" charset="0"/>
              </a:rPr>
              <a:t>Training Data and Batching</a:t>
            </a:r>
          </a:p>
          <a:p>
            <a:pPr marL="0" lvl="0" indent="0">
              <a:buNone/>
            </a:pPr>
            <a:r>
              <a:rPr lang="en-US" altLang="ko-KR" dirty="0">
                <a:solidFill>
                  <a:prstClr val="black"/>
                </a:solidFill>
                <a:latin typeface="Times New Roman" panose="02020603050405020304" pitchFamily="18" charset="0"/>
                <a:cs typeface="Times New Roman" panose="02020603050405020304" pitchFamily="18" charset="0"/>
              </a:rPr>
              <a:t>The model was trained on </a:t>
            </a:r>
            <a:r>
              <a:rPr lang="en-US" altLang="ko-KR" dirty="0" smtClean="0">
                <a:solidFill>
                  <a:prstClr val="black"/>
                </a:solidFill>
                <a:latin typeface="Times New Roman" panose="02020603050405020304" pitchFamily="18" charset="0"/>
                <a:cs typeface="Times New Roman" panose="02020603050405020304" pitchFamily="18" charset="0"/>
              </a:rPr>
              <a:t>toy </a:t>
            </a:r>
            <a:r>
              <a:rPr lang="en-US" altLang="ko-KR" dirty="0">
                <a:solidFill>
                  <a:prstClr val="black"/>
                </a:solidFill>
                <a:latin typeface="Times New Roman" panose="02020603050405020304" pitchFamily="18" charset="0"/>
                <a:cs typeface="Times New Roman" panose="02020603050405020304" pitchFamily="18" charset="0"/>
              </a:rPr>
              <a:t>data </a:t>
            </a:r>
            <a:r>
              <a:rPr lang="en-US" altLang="ko-KR" dirty="0" smtClean="0">
                <a:solidFill>
                  <a:prstClr val="black"/>
                </a:solidFill>
                <a:latin typeface="Times New Roman" panose="02020603050405020304" pitchFamily="18" charset="0"/>
                <a:cs typeface="Times New Roman" panose="02020603050405020304" pitchFamily="18" charset="0"/>
              </a:rPr>
              <a:t>set which is a text file of  addition mathematical expressions. 10 </a:t>
            </a:r>
            <a:r>
              <a:rPr lang="en-US" altLang="ko-KR" dirty="0">
                <a:solidFill>
                  <a:prstClr val="black"/>
                </a:solidFill>
                <a:latin typeface="Times New Roman" panose="02020603050405020304" pitchFamily="18" charset="0"/>
                <a:cs typeface="Times New Roman" panose="02020603050405020304" pitchFamily="18" charset="0"/>
              </a:rPr>
              <a:t>epochs are executed with batch size of </a:t>
            </a:r>
            <a:r>
              <a:rPr lang="en-US" altLang="ko-KR" dirty="0" smtClean="0">
                <a:solidFill>
                  <a:prstClr val="black"/>
                </a:solidFill>
                <a:latin typeface="Times New Roman" panose="02020603050405020304" pitchFamily="18" charset="0"/>
                <a:cs typeface="Times New Roman" panose="02020603050405020304" pitchFamily="18" charset="0"/>
              </a:rPr>
              <a:t>128.</a:t>
            </a:r>
            <a:endParaRPr lang="en-US" altLang="ko-KR" dirty="0">
              <a:solidFill>
                <a:prstClr val="black"/>
              </a:solidFill>
              <a:latin typeface="Times New Roman" panose="02020603050405020304" pitchFamily="18" charset="0"/>
              <a:cs typeface="Times New Roman" panose="02020603050405020304" pitchFamily="18" charset="0"/>
            </a:endParaRPr>
          </a:p>
          <a:p>
            <a:pPr marL="0" lvl="0" indent="0">
              <a:buNone/>
            </a:pPr>
            <a:endParaRPr lang="en-US" altLang="ko-KR" b="1" dirty="0">
              <a:solidFill>
                <a:prstClr val="black"/>
              </a:solidFill>
              <a:latin typeface="Times New Roman" panose="02020603050405020304" pitchFamily="18" charset="0"/>
              <a:cs typeface="Times New Roman" panose="02020603050405020304" pitchFamily="18" charset="0"/>
            </a:endParaRPr>
          </a:p>
          <a:p>
            <a:pPr marL="0" lvl="0" indent="0">
              <a:buNone/>
            </a:pPr>
            <a:r>
              <a:rPr lang="en-US" altLang="ko-KR" b="1" dirty="0" smtClean="0">
                <a:solidFill>
                  <a:prstClr val="black"/>
                </a:solidFill>
                <a:latin typeface="Times New Roman" panose="02020603050405020304" pitchFamily="18" charset="0"/>
                <a:cs typeface="Times New Roman" panose="02020603050405020304" pitchFamily="18" charset="0"/>
              </a:rPr>
              <a:t>4.2 </a:t>
            </a:r>
            <a:r>
              <a:rPr lang="en-US" altLang="ko-KR" b="1" dirty="0">
                <a:solidFill>
                  <a:prstClr val="black"/>
                </a:solidFill>
                <a:latin typeface="Times New Roman" panose="02020603050405020304" pitchFamily="18" charset="0"/>
                <a:cs typeface="Times New Roman" panose="02020603050405020304" pitchFamily="18" charset="0"/>
              </a:rPr>
              <a:t>Optimizer</a:t>
            </a:r>
          </a:p>
          <a:p>
            <a:pPr marL="0" lvl="0" indent="0">
              <a:buNone/>
            </a:pPr>
            <a:r>
              <a:rPr lang="en-US" altLang="ko-KR" dirty="0">
                <a:solidFill>
                  <a:prstClr val="black"/>
                </a:solidFill>
                <a:latin typeface="Times New Roman" panose="02020603050405020304" pitchFamily="18" charset="0"/>
                <a:cs typeface="Times New Roman" panose="02020603050405020304" pitchFamily="18" charset="0"/>
              </a:rPr>
              <a:t>The base model used </a:t>
            </a:r>
            <a:r>
              <a:rPr lang="en-US" altLang="ko-KR" dirty="0" smtClean="0">
                <a:solidFill>
                  <a:prstClr val="black"/>
                </a:solidFill>
                <a:latin typeface="Times New Roman" panose="02020603050405020304" pitchFamily="18" charset="0"/>
                <a:cs typeface="Times New Roman" panose="02020603050405020304" pitchFamily="18" charset="0"/>
              </a:rPr>
              <a:t>Adam with ŋ=0.001.</a:t>
            </a:r>
            <a:endParaRPr lang="en-US" altLang="ko-KR" dirty="0">
              <a:solidFill>
                <a:prstClr val="black"/>
              </a:solidFill>
              <a:latin typeface="Times New Roman" panose="02020603050405020304" pitchFamily="18" charset="0"/>
              <a:cs typeface="Times New Roman" panose="02020603050405020304" pitchFamily="18" charset="0"/>
            </a:endParaRPr>
          </a:p>
          <a:p>
            <a:endParaRPr lang="en-US" altLang="ko-KR" dirty="0" smtClean="0"/>
          </a:p>
          <a:p>
            <a:pPr marL="0" lvl="0" indent="0">
              <a:buNone/>
            </a:pPr>
            <a:r>
              <a:rPr lang="en-US" altLang="ko-KR" b="1" dirty="0" smtClean="0">
                <a:solidFill>
                  <a:prstClr val="black"/>
                </a:solidFill>
                <a:latin typeface="Times New Roman" panose="02020603050405020304" pitchFamily="18" charset="0"/>
                <a:cs typeface="Times New Roman" panose="02020603050405020304" pitchFamily="18" charset="0"/>
              </a:rPr>
              <a:t>4.3 Attention</a:t>
            </a:r>
          </a:p>
          <a:p>
            <a:pPr marL="0" indent="0">
              <a:buNone/>
            </a:pPr>
            <a:r>
              <a:rPr lang="en-US" altLang="ko-KR" dirty="0" smtClean="0">
                <a:solidFill>
                  <a:prstClr val="black"/>
                </a:solidFill>
                <a:latin typeface="Times New Roman" panose="02020603050405020304" pitchFamily="18" charset="0"/>
                <a:cs typeface="Times New Roman" panose="02020603050405020304" pitchFamily="18" charset="0"/>
              </a:rPr>
              <a:t>Variations of the base model use attention as a method of improvement. </a:t>
            </a:r>
            <a:endParaRPr lang="en-US" altLang="ko-KR" b="1" dirty="0" smtClean="0">
              <a:solidFill>
                <a:prstClr val="black"/>
              </a:solidFill>
              <a:latin typeface="Times New Roman" panose="02020603050405020304" pitchFamily="18" charset="0"/>
              <a:cs typeface="Times New Roman" panose="02020603050405020304" pitchFamily="18" charset="0"/>
            </a:endParaRPr>
          </a:p>
          <a:p>
            <a:pPr marL="0" lvl="0" indent="0">
              <a:buNone/>
            </a:pPr>
            <a:endParaRPr lang="ko-KR" altLang="en-US" dirty="0"/>
          </a:p>
        </p:txBody>
      </p:sp>
    </p:spTree>
    <p:extLst>
      <p:ext uri="{BB962C8B-B14F-4D97-AF65-F5344CB8AC3E}">
        <p14:creationId xmlns:p14="http://schemas.microsoft.com/office/powerpoint/2010/main" val="20848925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583095" y="568800"/>
            <a:ext cx="11248446" cy="685059"/>
          </a:xfrm>
          <a:prstGeom prst="rect">
            <a:avLst/>
          </a:prstGeom>
        </p:spPr>
        <p:txBody>
          <a:bodyPr wrap="square">
            <a:spAutoFit/>
          </a:bodyPr>
          <a:lstStyle/>
          <a:p>
            <a:pPr algn="just">
              <a:lnSpc>
                <a:spcPct val="107000"/>
              </a:lnSpc>
              <a:spcAft>
                <a:spcPts val="800"/>
              </a:spcAft>
            </a:pPr>
            <a:r>
              <a:rPr lang="en-US" altLang="ko-KR" kern="100" dirty="0">
                <a:latin typeface="Times New Roman" panose="02020603050405020304" pitchFamily="18" charset="0"/>
                <a:cs typeface="Times New Roman" panose="02020603050405020304" pitchFamily="18" charset="0"/>
              </a:rPr>
              <a:t> Table 4: Variations on the sequence to sequence model architecture. Unlisted values are identical to those of the base model. </a:t>
            </a:r>
            <a:endParaRPr lang="ko-KR" altLang="ko-KR" kern="100" dirty="0">
              <a:latin typeface="맑은 고딕" panose="020B0503020000020004" pitchFamily="50" charset="-127"/>
              <a:cs typeface="Times New Roman" panose="02020603050405020304" pitchFamily="18" charset="0"/>
            </a:endParaRPr>
          </a:p>
        </p:txBody>
      </p:sp>
      <p:graphicFrame>
        <p:nvGraphicFramePr>
          <p:cNvPr id="6" name="표 5"/>
          <p:cNvGraphicFramePr>
            <a:graphicFrameLocks noGrp="1"/>
          </p:cNvGraphicFramePr>
          <p:nvPr>
            <p:extLst>
              <p:ext uri="{D42A27DB-BD31-4B8C-83A1-F6EECF244321}">
                <p14:modId xmlns:p14="http://schemas.microsoft.com/office/powerpoint/2010/main" val="2028909835"/>
              </p:ext>
            </p:extLst>
          </p:nvPr>
        </p:nvGraphicFramePr>
        <p:xfrm>
          <a:off x="795131" y="1526652"/>
          <a:ext cx="10630892" cy="4799604"/>
        </p:xfrm>
        <a:graphic>
          <a:graphicData uri="http://schemas.openxmlformats.org/drawingml/2006/table">
            <a:tbl>
              <a:tblPr firstRow="1" firstCol="1" bandRow="1"/>
              <a:tblGrid>
                <a:gridCol w="1171442">
                  <a:extLst>
                    <a:ext uri="{9D8B030D-6E8A-4147-A177-3AD203B41FA5}">
                      <a16:colId xmlns:a16="http://schemas.microsoft.com/office/drawing/2014/main" val="3395002877"/>
                    </a:ext>
                  </a:extLst>
                </a:gridCol>
                <a:gridCol w="1095800">
                  <a:extLst>
                    <a:ext uri="{9D8B030D-6E8A-4147-A177-3AD203B41FA5}">
                      <a16:colId xmlns:a16="http://schemas.microsoft.com/office/drawing/2014/main" val="2855342387"/>
                    </a:ext>
                  </a:extLst>
                </a:gridCol>
                <a:gridCol w="1236863">
                  <a:extLst>
                    <a:ext uri="{9D8B030D-6E8A-4147-A177-3AD203B41FA5}">
                      <a16:colId xmlns:a16="http://schemas.microsoft.com/office/drawing/2014/main" val="2346625251"/>
                    </a:ext>
                  </a:extLst>
                </a:gridCol>
                <a:gridCol w="1729565">
                  <a:extLst>
                    <a:ext uri="{9D8B030D-6E8A-4147-A177-3AD203B41FA5}">
                      <a16:colId xmlns:a16="http://schemas.microsoft.com/office/drawing/2014/main" val="3633585240"/>
                    </a:ext>
                  </a:extLst>
                </a:gridCol>
                <a:gridCol w="1729565">
                  <a:extLst>
                    <a:ext uri="{9D8B030D-6E8A-4147-A177-3AD203B41FA5}">
                      <a16:colId xmlns:a16="http://schemas.microsoft.com/office/drawing/2014/main" val="2572921956"/>
                    </a:ext>
                  </a:extLst>
                </a:gridCol>
                <a:gridCol w="1391215">
                  <a:extLst>
                    <a:ext uri="{9D8B030D-6E8A-4147-A177-3AD203B41FA5}">
                      <a16:colId xmlns:a16="http://schemas.microsoft.com/office/drawing/2014/main" val="4214394274"/>
                    </a:ext>
                  </a:extLst>
                </a:gridCol>
                <a:gridCol w="1391215">
                  <a:extLst>
                    <a:ext uri="{9D8B030D-6E8A-4147-A177-3AD203B41FA5}">
                      <a16:colId xmlns:a16="http://schemas.microsoft.com/office/drawing/2014/main" val="1167185055"/>
                    </a:ext>
                  </a:extLst>
                </a:gridCol>
                <a:gridCol w="885227">
                  <a:extLst>
                    <a:ext uri="{9D8B030D-6E8A-4147-A177-3AD203B41FA5}">
                      <a16:colId xmlns:a16="http://schemas.microsoft.com/office/drawing/2014/main" val="1176864194"/>
                    </a:ext>
                  </a:extLst>
                </a:gridCol>
              </a:tblGrid>
              <a:tr h="506437">
                <a:tc>
                  <a:txBody>
                    <a:bodyPr/>
                    <a:lstStyle/>
                    <a:p>
                      <a:pPr algn="just"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i="1" kern="100">
                          <a:effectLst/>
                          <a:latin typeface="Times New Roman" panose="02020603050405020304" pitchFamily="18" charset="0"/>
                          <a:ea typeface="맑은 고딕" panose="020B0503020000020004" pitchFamily="50" charset="-127"/>
                          <a:cs typeface="Times New Roman" panose="02020603050405020304" pitchFamily="18" charset="0"/>
                        </a:rPr>
                        <a:t>w</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i="1" kern="100">
                          <a:effectLst/>
                          <a:latin typeface="Times New Roman" panose="02020603050405020304" pitchFamily="18" charset="0"/>
                          <a:ea typeface="맑은 고딕" panose="020B0503020000020004" pitchFamily="50" charset="-127"/>
                          <a:cs typeface="Times New Roman" panose="02020603050405020304" pitchFamily="18" charset="0"/>
                        </a:rPr>
                        <a:t>h</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i="1" kern="100">
                          <a:effectLst/>
                          <a:latin typeface="Times New Roman" panose="02020603050405020304" pitchFamily="18" charset="0"/>
                          <a:ea typeface="맑은 고딕" panose="020B0503020000020004" pitchFamily="50" charset="-127"/>
                          <a:cs typeface="Times New Roman" panose="02020603050405020304" pitchFamily="18" charset="0"/>
                        </a:rPr>
                        <a:t>lr</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test acc</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9038382"/>
                  </a:ext>
                </a:extLst>
              </a:tr>
              <a:tr h="253219">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base</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16</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128</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0.001 </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350</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283.559</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0.054</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5179653"/>
                  </a:ext>
                </a:extLst>
              </a:tr>
              <a:tr h="253219">
                <a:tc rowSpan="2">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(A)</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32</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305.150</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0.083</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483741669"/>
                  </a:ext>
                </a:extLst>
              </a:tr>
              <a:tr h="253219">
                <a:tc vMerge="1">
                  <a:txBody>
                    <a:bodyPr/>
                    <a:lstStyle/>
                    <a:p>
                      <a:pPr latinLnBrk="1"/>
                      <a:endParaRPr lang="ko-KR" altLang="en-US"/>
                    </a:p>
                  </a:txBody>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64</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359.227</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0.061</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50413316"/>
                  </a:ext>
                </a:extLst>
              </a:tr>
              <a:tr h="506437">
                <a:tc rowSpan="2">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(B)</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64</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184.159</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latinLnBrk="1">
                        <a:lnSpc>
                          <a:spcPct val="107000"/>
                        </a:lnSpc>
                        <a:spcAft>
                          <a:spcPts val="0"/>
                        </a:spcAft>
                      </a:pPr>
                      <a:r>
                        <a:rPr lang="en-US"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0.046</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554541430"/>
                  </a:ext>
                </a:extLst>
              </a:tr>
              <a:tr h="253219">
                <a:tc vMerge="1">
                  <a:txBody>
                    <a:bodyPr/>
                    <a:lstStyle/>
                    <a:p>
                      <a:pPr latinLnBrk="1"/>
                      <a:endParaRPr lang="ko-KR" altLang="en-US"/>
                    </a:p>
                  </a:txBody>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256</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r>
                        <a:rPr lang="en-US"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649.484</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latinLnBrk="1">
                        <a:lnSpc>
                          <a:spcPct val="107000"/>
                        </a:lnSpc>
                        <a:spcAft>
                          <a:spcPts val="0"/>
                        </a:spcAft>
                      </a:pPr>
                      <a:r>
                        <a:rPr lang="en-US" sz="1800" b="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0.278</a:t>
                      </a: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1402284"/>
                  </a:ext>
                </a:extLst>
              </a:tr>
              <a:tr h="506437">
                <a:tc rowSpan="3">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(C)</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0.01</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tcPr>
                </a:tc>
                <a:tc>
                  <a:txBody>
                    <a:bodyPr/>
                    <a:lstStyle/>
                    <a:p>
                      <a:pPr algn="ctr" latinLnBrk="1">
                        <a:lnSpc>
                          <a:spcPct val="107000"/>
                        </a:lnSpc>
                        <a:spcAft>
                          <a:spcPts val="0"/>
                        </a:spcAft>
                      </a:pPr>
                      <a:r>
                        <a:rPr lang="en-US" altLang="ko-KR"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300.782</a:t>
                      </a:r>
                      <a:endParaRPr 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latinLnBrk="1">
                        <a:lnSpc>
                          <a:spcPct val="107000"/>
                        </a:lnSpc>
                        <a:spcAft>
                          <a:spcPts val="0"/>
                        </a:spcAft>
                      </a:pPr>
                      <a:r>
                        <a:rPr lang="en-US" altLang="ko-KR"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0.171</a:t>
                      </a:r>
                      <a:endParaRPr 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1410232028"/>
                  </a:ext>
                </a:extLst>
              </a:tr>
              <a:tr h="506437">
                <a:tc vMerge="1">
                  <a:txBody>
                    <a:bodyPr/>
                    <a:lstStyle/>
                    <a:p>
                      <a:pPr latinLnBrk="1"/>
                      <a:endParaRPr lang="ko-KR" altLang="en-US"/>
                    </a:p>
                  </a:txBody>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SGD</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0.01</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a:noFill/>
                    </a:lnB>
                  </a:tcPr>
                </a:tc>
                <a:tc>
                  <a:txBody>
                    <a:bodyPr/>
                    <a:lstStyle/>
                    <a:p>
                      <a:pPr algn="ctr" latinLnBrk="1">
                        <a:lnSpc>
                          <a:spcPct val="107000"/>
                        </a:lnSpc>
                        <a:spcAft>
                          <a:spcPts val="0"/>
                        </a:spcAft>
                      </a:pPr>
                      <a:r>
                        <a:rPr lang="en-US" altLang="ko-KR"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274.654</a:t>
                      </a:r>
                      <a:endParaRPr 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ctr" latinLnBrk="1">
                        <a:lnSpc>
                          <a:spcPct val="107000"/>
                        </a:lnSpc>
                        <a:spcAft>
                          <a:spcPts val="0"/>
                        </a:spcAft>
                      </a:pPr>
                      <a:r>
                        <a:rPr lang="en-US" altLang="ko-KR"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0.002</a:t>
                      </a:r>
                      <a:endParaRPr 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520941876"/>
                  </a:ext>
                </a:extLst>
              </a:tr>
              <a:tr h="506437">
                <a:tc vMerge="1">
                  <a:txBody>
                    <a:bodyPr/>
                    <a:lstStyle/>
                    <a:p>
                      <a:pPr latinLnBrk="1"/>
                      <a:endParaRPr lang="ko-KR" altLang="en-US"/>
                    </a:p>
                  </a:txBody>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RMSprop</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0.01</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280.766</a:t>
                      </a:r>
                      <a:endParaRPr 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0.102</a:t>
                      </a:r>
                      <a:endParaRPr 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6534074"/>
                  </a:ext>
                </a:extLst>
              </a:tr>
              <a:tr h="506437">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(D)</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reverse input data sequence</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latinLnBrk="1">
                        <a:lnSpc>
                          <a:spcPct val="107000"/>
                        </a:lnSpc>
                        <a:spcAft>
                          <a:spcPts val="0"/>
                        </a:spcAft>
                      </a:pPr>
                      <a:r>
                        <a:rPr lang="en-US" altLang="ko-KR"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299.857</a:t>
                      </a:r>
                      <a:endParaRPr 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800" b="1"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0.298</a:t>
                      </a:r>
                      <a:endParaRPr lang="ko-KR" sz="1800" b="1"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8395368"/>
                  </a:ext>
                </a:extLst>
              </a:tr>
              <a:tr h="259332">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(E)</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concatenate encoder hidden state to every time step of the decoder </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r>
                        <a:rPr lang="en-US"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324.455</a:t>
                      </a:r>
                      <a:endParaRPr 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0.188</a:t>
                      </a: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1911761"/>
                  </a:ext>
                </a:extLst>
              </a:tr>
              <a:tr h="259332">
                <a:tc>
                  <a:txBody>
                    <a:bodyPr/>
                    <a:lstStyle/>
                    <a:p>
                      <a:pPr algn="ctr" latinLnBrk="1">
                        <a:lnSpc>
                          <a:spcPct val="107000"/>
                        </a:lnSpc>
                        <a:spcAft>
                          <a:spcPts val="0"/>
                        </a:spcAft>
                      </a:pPr>
                      <a:r>
                        <a:rPr lang="en-US" altLang="ko-KR"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(F)</a:t>
                      </a:r>
                      <a:endParaRPr 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latinLnBrk="1">
                        <a:lnSpc>
                          <a:spcPct val="107000"/>
                        </a:lnSpc>
                        <a:spcAft>
                          <a:spcPts val="0"/>
                        </a:spcAft>
                      </a:pPr>
                      <a:r>
                        <a:rPr lang="en-US" altLang="ko-KR"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use attention</a:t>
                      </a:r>
                      <a:endParaRPr 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latinLnBrk="1">
                        <a:lnSpc>
                          <a:spcPct val="107000"/>
                        </a:lnSpc>
                        <a:spcAft>
                          <a:spcPts val="0"/>
                        </a:spcAft>
                      </a:pPr>
                      <a:r>
                        <a:rPr lang="en-US" altLang="ko-KR"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335.039</a:t>
                      </a:r>
                      <a:endParaRPr 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0.068</a:t>
                      </a:r>
                      <a:endParaRPr 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968912"/>
                  </a:ext>
                </a:extLst>
              </a:tr>
            </a:tbl>
          </a:graphicData>
        </a:graphic>
      </p:graphicFrame>
    </p:spTree>
    <p:extLst>
      <p:ext uri="{BB962C8B-B14F-4D97-AF65-F5344CB8AC3E}">
        <p14:creationId xmlns:p14="http://schemas.microsoft.com/office/powerpoint/2010/main" val="11449837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771277" y="229953"/>
            <a:ext cx="11131825" cy="2067974"/>
          </a:xfrm>
        </p:spPr>
        <p:txBody>
          <a:bodyPr>
            <a:noAutofit/>
          </a:bodyPr>
          <a:lstStyle/>
          <a:p>
            <a:r>
              <a:rPr lang="en-US" altLang="ko-KR" sz="2800" b="1" dirty="0">
                <a:latin typeface="times" panose="02020603050405020304" pitchFamily="18" charset="0"/>
                <a:cs typeface="times" panose="02020603050405020304" pitchFamily="18" charset="0"/>
              </a:rPr>
              <a:t/>
            </a:r>
            <a:br>
              <a:rPr lang="en-US" altLang="ko-KR" sz="2800" b="1" dirty="0">
                <a:latin typeface="times" panose="02020603050405020304" pitchFamily="18" charset="0"/>
                <a:cs typeface="times" panose="02020603050405020304" pitchFamily="18" charset="0"/>
              </a:rPr>
            </a:br>
            <a:r>
              <a:rPr lang="en-US" altLang="ko-KR" sz="2800" b="1" dirty="0">
                <a:latin typeface="times" panose="02020603050405020304" pitchFamily="18" charset="0"/>
                <a:cs typeface="times" panose="02020603050405020304" pitchFamily="18" charset="0"/>
              </a:rPr>
              <a:t>Gao Huang et al. “Densely Connected Convolutional Networks</a:t>
            </a:r>
            <a:r>
              <a:rPr lang="en-US" altLang="ko-KR" sz="2800" b="1" dirty="0" smtClean="0">
                <a:latin typeface="times" panose="02020603050405020304" pitchFamily="18" charset="0"/>
                <a:cs typeface="times" panose="02020603050405020304" pitchFamily="18" charset="0"/>
              </a:rPr>
              <a:t>”</a:t>
            </a:r>
            <a:r>
              <a:rPr lang="en-US" altLang="ko-KR" sz="2800" b="1" dirty="0">
                <a:latin typeface="times" panose="02020603050405020304" pitchFamily="18" charset="0"/>
                <a:cs typeface="times" panose="02020603050405020304" pitchFamily="18" charset="0"/>
              </a:rPr>
              <a:t/>
            </a:r>
            <a:br>
              <a:rPr lang="en-US" altLang="ko-KR" sz="2800" b="1" dirty="0">
                <a:latin typeface="times" panose="02020603050405020304" pitchFamily="18" charset="0"/>
                <a:cs typeface="times" panose="02020603050405020304" pitchFamily="18" charset="0"/>
              </a:rPr>
            </a:br>
            <a:r>
              <a:rPr lang="en-US" altLang="ko-KR" sz="2800" b="1" dirty="0" smtClean="0">
                <a:latin typeface="times" panose="02020603050405020304" pitchFamily="18" charset="0"/>
                <a:cs typeface="times" panose="02020603050405020304" pitchFamily="18" charset="0"/>
              </a:rPr>
              <a:t/>
            </a:r>
            <a:br>
              <a:rPr lang="en-US" altLang="ko-KR" sz="2800" b="1" dirty="0" smtClean="0">
                <a:latin typeface="times" panose="02020603050405020304" pitchFamily="18" charset="0"/>
                <a:cs typeface="times" panose="02020603050405020304" pitchFamily="18" charset="0"/>
              </a:rPr>
            </a:br>
            <a:r>
              <a:rPr lang="en-US" altLang="ko-KR" sz="2800" b="1" dirty="0" err="1" smtClean="0">
                <a:latin typeface="times" panose="02020603050405020304" pitchFamily="18" charset="0"/>
                <a:cs typeface="times" panose="02020603050405020304" pitchFamily="18" charset="0"/>
              </a:rPr>
              <a:t>Kyunghyun</a:t>
            </a:r>
            <a:r>
              <a:rPr lang="en-US" altLang="ko-KR" sz="2800" b="1" dirty="0" smtClean="0">
                <a:latin typeface="times" panose="02020603050405020304" pitchFamily="18" charset="0"/>
                <a:cs typeface="times" panose="02020603050405020304" pitchFamily="18" charset="0"/>
              </a:rPr>
              <a:t> Cho et al</a:t>
            </a:r>
            <a:r>
              <a:rPr lang="en-US" altLang="ko-KR" sz="2800" b="1" dirty="0">
                <a:latin typeface="times" panose="02020603050405020304" pitchFamily="18" charset="0"/>
                <a:cs typeface="times" panose="02020603050405020304" pitchFamily="18" charset="0"/>
              </a:rPr>
              <a:t>. “Learning Phrase Representations using </a:t>
            </a:r>
            <a:r>
              <a:rPr lang="en-US" altLang="ko-KR" sz="2800" b="1" dirty="0" smtClean="0">
                <a:latin typeface="times" panose="02020603050405020304" pitchFamily="18" charset="0"/>
                <a:cs typeface="times" panose="02020603050405020304" pitchFamily="18" charset="0"/>
              </a:rPr>
              <a:t>RNN Encoder–Decoder for </a:t>
            </a:r>
            <a:r>
              <a:rPr lang="en-US" altLang="ko-KR" sz="2800" b="1" dirty="0">
                <a:latin typeface="times" panose="02020603050405020304" pitchFamily="18" charset="0"/>
                <a:cs typeface="times" panose="02020603050405020304" pitchFamily="18" charset="0"/>
              </a:rPr>
              <a:t>Statistical Machine </a:t>
            </a:r>
            <a:r>
              <a:rPr lang="en-US" altLang="ko-KR" sz="2800" b="1" dirty="0" smtClean="0">
                <a:latin typeface="times" panose="02020603050405020304" pitchFamily="18" charset="0"/>
                <a:cs typeface="times" panose="02020603050405020304" pitchFamily="18" charset="0"/>
              </a:rPr>
              <a:t>Translation”</a:t>
            </a:r>
            <a:r>
              <a:rPr lang="en-US" altLang="ko-KR" sz="2800" b="1" dirty="0">
                <a:latin typeface="times" panose="02020603050405020304" pitchFamily="18" charset="0"/>
                <a:cs typeface="times" panose="02020603050405020304" pitchFamily="18" charset="0"/>
              </a:rPr>
              <a:t/>
            </a:r>
            <a:br>
              <a:rPr lang="en-US" altLang="ko-KR" sz="2800" b="1" dirty="0">
                <a:latin typeface="times" panose="02020603050405020304" pitchFamily="18" charset="0"/>
                <a:cs typeface="times" panose="02020603050405020304" pitchFamily="18" charset="0"/>
              </a:rPr>
            </a:br>
            <a:endParaRPr lang="ko-KR" altLang="en-US" sz="2800" b="1" dirty="0">
              <a:latin typeface="times" panose="02020603050405020304" pitchFamily="18" charset="0"/>
              <a:cs typeface="times" panose="02020603050405020304" pitchFamily="18" charset="0"/>
            </a:endParaRPr>
          </a:p>
        </p:txBody>
      </p:sp>
      <p:pic>
        <p:nvPicPr>
          <p:cNvPr id="4" name="그림 3"/>
          <p:cNvPicPr>
            <a:picLocks noChangeAspect="1"/>
          </p:cNvPicPr>
          <p:nvPr/>
        </p:nvPicPr>
        <p:blipFill>
          <a:blip r:embed="rId2"/>
          <a:stretch>
            <a:fillRect/>
          </a:stretch>
        </p:blipFill>
        <p:spPr>
          <a:xfrm>
            <a:off x="966704" y="2647783"/>
            <a:ext cx="4147733" cy="3510087"/>
          </a:xfrm>
          <a:prstGeom prst="rect">
            <a:avLst/>
          </a:prstGeom>
        </p:spPr>
      </p:pic>
      <p:pic>
        <p:nvPicPr>
          <p:cNvPr id="5" name="그림 4"/>
          <p:cNvPicPr>
            <a:picLocks noChangeAspect="1"/>
          </p:cNvPicPr>
          <p:nvPr/>
        </p:nvPicPr>
        <p:blipFill>
          <a:blip r:embed="rId3"/>
          <a:stretch>
            <a:fillRect/>
          </a:stretch>
        </p:blipFill>
        <p:spPr>
          <a:xfrm>
            <a:off x="6922562" y="2495908"/>
            <a:ext cx="3740137" cy="3585179"/>
          </a:xfrm>
          <a:prstGeom prst="rect">
            <a:avLst/>
          </a:prstGeom>
        </p:spPr>
      </p:pic>
    </p:spTree>
    <p:extLst>
      <p:ext uri="{BB962C8B-B14F-4D97-AF65-F5344CB8AC3E}">
        <p14:creationId xmlns:p14="http://schemas.microsoft.com/office/powerpoint/2010/main" val="20276225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graphicFrame>
        <p:nvGraphicFramePr>
          <p:cNvPr id="5" name="내용 개체 틀 4"/>
          <p:cNvGraphicFramePr>
            <a:graphicFrameLocks noGrp="1"/>
          </p:cNvGraphicFramePr>
          <p:nvPr>
            <p:ph idx="1"/>
            <p:extLst>
              <p:ext uri="{D42A27DB-BD31-4B8C-83A1-F6EECF244321}">
                <p14:modId xmlns:p14="http://schemas.microsoft.com/office/powerpoint/2010/main" val="2431893853"/>
              </p:ext>
            </p:extLst>
          </p:nvPr>
        </p:nvGraphicFramePr>
        <p:xfrm>
          <a:off x="520147" y="3838969"/>
          <a:ext cx="10630892" cy="799934"/>
        </p:xfrm>
        <a:graphic>
          <a:graphicData uri="http://schemas.openxmlformats.org/drawingml/2006/table">
            <a:tbl>
              <a:tblPr firstRow="1" firstCol="1" bandRow="1"/>
              <a:tblGrid>
                <a:gridCol w="1171442">
                  <a:extLst>
                    <a:ext uri="{9D8B030D-6E8A-4147-A177-3AD203B41FA5}">
                      <a16:colId xmlns:a16="http://schemas.microsoft.com/office/drawing/2014/main" val="1317064091"/>
                    </a:ext>
                  </a:extLst>
                </a:gridCol>
                <a:gridCol w="1095800">
                  <a:extLst>
                    <a:ext uri="{9D8B030D-6E8A-4147-A177-3AD203B41FA5}">
                      <a16:colId xmlns:a16="http://schemas.microsoft.com/office/drawing/2014/main" val="822040526"/>
                    </a:ext>
                  </a:extLst>
                </a:gridCol>
                <a:gridCol w="1236863">
                  <a:extLst>
                    <a:ext uri="{9D8B030D-6E8A-4147-A177-3AD203B41FA5}">
                      <a16:colId xmlns:a16="http://schemas.microsoft.com/office/drawing/2014/main" val="1401144260"/>
                    </a:ext>
                  </a:extLst>
                </a:gridCol>
                <a:gridCol w="1729565">
                  <a:extLst>
                    <a:ext uri="{9D8B030D-6E8A-4147-A177-3AD203B41FA5}">
                      <a16:colId xmlns:a16="http://schemas.microsoft.com/office/drawing/2014/main" val="3112798938"/>
                    </a:ext>
                  </a:extLst>
                </a:gridCol>
                <a:gridCol w="1729565">
                  <a:extLst>
                    <a:ext uri="{9D8B030D-6E8A-4147-A177-3AD203B41FA5}">
                      <a16:colId xmlns:a16="http://schemas.microsoft.com/office/drawing/2014/main" val="2452348842"/>
                    </a:ext>
                  </a:extLst>
                </a:gridCol>
                <a:gridCol w="1391215">
                  <a:extLst>
                    <a:ext uri="{9D8B030D-6E8A-4147-A177-3AD203B41FA5}">
                      <a16:colId xmlns:a16="http://schemas.microsoft.com/office/drawing/2014/main" val="3036240983"/>
                    </a:ext>
                  </a:extLst>
                </a:gridCol>
                <a:gridCol w="1391215">
                  <a:extLst>
                    <a:ext uri="{9D8B030D-6E8A-4147-A177-3AD203B41FA5}">
                      <a16:colId xmlns:a16="http://schemas.microsoft.com/office/drawing/2014/main" val="2164828979"/>
                    </a:ext>
                  </a:extLst>
                </a:gridCol>
                <a:gridCol w="885227">
                  <a:extLst>
                    <a:ext uri="{9D8B030D-6E8A-4147-A177-3AD203B41FA5}">
                      <a16:colId xmlns:a16="http://schemas.microsoft.com/office/drawing/2014/main" val="3025365389"/>
                    </a:ext>
                  </a:extLst>
                </a:gridCol>
              </a:tblGrid>
              <a:tr h="506437">
                <a:tc>
                  <a:txBody>
                    <a:bodyPr/>
                    <a:lstStyle/>
                    <a:p>
                      <a:pPr algn="just"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i="1" kern="100">
                          <a:effectLst/>
                          <a:latin typeface="Times New Roman" panose="02020603050405020304" pitchFamily="18" charset="0"/>
                          <a:ea typeface="맑은 고딕" panose="020B0503020000020004" pitchFamily="50" charset="-127"/>
                          <a:cs typeface="Times New Roman" panose="02020603050405020304" pitchFamily="18" charset="0"/>
                        </a:rPr>
                        <a:t>w</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i="1" kern="100">
                          <a:effectLst/>
                          <a:latin typeface="Times New Roman" panose="02020603050405020304" pitchFamily="18" charset="0"/>
                          <a:ea typeface="맑은 고딕" panose="020B0503020000020004" pitchFamily="50" charset="-127"/>
                          <a:cs typeface="Times New Roman" panose="02020603050405020304" pitchFamily="18" charset="0"/>
                        </a:rPr>
                        <a:t>h</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i="1" kern="100">
                          <a:effectLst/>
                          <a:latin typeface="Times New Roman" panose="02020603050405020304" pitchFamily="18" charset="0"/>
                          <a:ea typeface="맑은 고딕" panose="020B0503020000020004" pitchFamily="50" charset="-127"/>
                          <a:cs typeface="Times New Roman" panose="02020603050405020304" pitchFamily="18" charset="0"/>
                        </a:rPr>
                        <a:t>lr</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test acc</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5430742"/>
                  </a:ext>
                </a:extLst>
              </a:tr>
              <a:tr h="253219">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base</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16</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128</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0.001 </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350</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283.559</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0.054</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50455"/>
                  </a:ext>
                </a:extLst>
              </a:tr>
            </a:tbl>
          </a:graphicData>
        </a:graphic>
      </p:graphicFrame>
      <p:pic>
        <p:nvPicPr>
          <p:cNvPr id="4" name="그림 3"/>
          <p:cNvPicPr>
            <a:picLocks noChangeAspect="1"/>
          </p:cNvPicPr>
          <p:nvPr/>
        </p:nvPicPr>
        <p:blipFill>
          <a:blip r:embed="rId2"/>
          <a:stretch>
            <a:fillRect/>
          </a:stretch>
        </p:blipFill>
        <p:spPr>
          <a:xfrm>
            <a:off x="178242" y="126794"/>
            <a:ext cx="4784446" cy="3262726"/>
          </a:xfrm>
          <a:prstGeom prst="rect">
            <a:avLst/>
          </a:prstGeom>
        </p:spPr>
      </p:pic>
      <p:graphicFrame>
        <p:nvGraphicFramePr>
          <p:cNvPr id="6" name="내용 개체 틀 4"/>
          <p:cNvGraphicFramePr>
            <a:graphicFrameLocks/>
          </p:cNvGraphicFramePr>
          <p:nvPr>
            <p:extLst>
              <p:ext uri="{D42A27DB-BD31-4B8C-83A1-F6EECF244321}">
                <p14:modId xmlns:p14="http://schemas.microsoft.com/office/powerpoint/2010/main" val="1307222160"/>
              </p:ext>
            </p:extLst>
          </p:nvPr>
        </p:nvGraphicFramePr>
        <p:xfrm>
          <a:off x="520147" y="5025038"/>
          <a:ext cx="10630892" cy="1256499"/>
        </p:xfrm>
        <a:graphic>
          <a:graphicData uri="http://schemas.openxmlformats.org/drawingml/2006/table">
            <a:tbl>
              <a:tblPr firstRow="1" firstCol="1" bandRow="1"/>
              <a:tblGrid>
                <a:gridCol w="1171442">
                  <a:extLst>
                    <a:ext uri="{9D8B030D-6E8A-4147-A177-3AD203B41FA5}">
                      <a16:colId xmlns:a16="http://schemas.microsoft.com/office/drawing/2014/main" val="1317064091"/>
                    </a:ext>
                  </a:extLst>
                </a:gridCol>
                <a:gridCol w="1095800">
                  <a:extLst>
                    <a:ext uri="{9D8B030D-6E8A-4147-A177-3AD203B41FA5}">
                      <a16:colId xmlns:a16="http://schemas.microsoft.com/office/drawing/2014/main" val="822040526"/>
                    </a:ext>
                  </a:extLst>
                </a:gridCol>
                <a:gridCol w="1236863">
                  <a:extLst>
                    <a:ext uri="{9D8B030D-6E8A-4147-A177-3AD203B41FA5}">
                      <a16:colId xmlns:a16="http://schemas.microsoft.com/office/drawing/2014/main" val="1401144260"/>
                    </a:ext>
                  </a:extLst>
                </a:gridCol>
                <a:gridCol w="1729565">
                  <a:extLst>
                    <a:ext uri="{9D8B030D-6E8A-4147-A177-3AD203B41FA5}">
                      <a16:colId xmlns:a16="http://schemas.microsoft.com/office/drawing/2014/main" val="3112798938"/>
                    </a:ext>
                  </a:extLst>
                </a:gridCol>
                <a:gridCol w="1729565">
                  <a:extLst>
                    <a:ext uri="{9D8B030D-6E8A-4147-A177-3AD203B41FA5}">
                      <a16:colId xmlns:a16="http://schemas.microsoft.com/office/drawing/2014/main" val="2452348842"/>
                    </a:ext>
                  </a:extLst>
                </a:gridCol>
                <a:gridCol w="1391215">
                  <a:extLst>
                    <a:ext uri="{9D8B030D-6E8A-4147-A177-3AD203B41FA5}">
                      <a16:colId xmlns:a16="http://schemas.microsoft.com/office/drawing/2014/main" val="3036240983"/>
                    </a:ext>
                  </a:extLst>
                </a:gridCol>
                <a:gridCol w="1391215">
                  <a:extLst>
                    <a:ext uri="{9D8B030D-6E8A-4147-A177-3AD203B41FA5}">
                      <a16:colId xmlns:a16="http://schemas.microsoft.com/office/drawing/2014/main" val="2164828979"/>
                    </a:ext>
                  </a:extLst>
                </a:gridCol>
                <a:gridCol w="885227">
                  <a:extLst>
                    <a:ext uri="{9D8B030D-6E8A-4147-A177-3AD203B41FA5}">
                      <a16:colId xmlns:a16="http://schemas.microsoft.com/office/drawing/2014/main" val="3025365389"/>
                    </a:ext>
                  </a:extLst>
                </a:gridCol>
              </a:tblGrid>
              <a:tr h="506437">
                <a:tc>
                  <a:txBody>
                    <a:bodyPr/>
                    <a:lstStyle/>
                    <a:p>
                      <a:pPr algn="just"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 </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i="1" kern="100">
                          <a:effectLst/>
                          <a:latin typeface="Times New Roman" panose="02020603050405020304" pitchFamily="18" charset="0"/>
                          <a:ea typeface="맑은 고딕" panose="020B0503020000020004" pitchFamily="50" charset="-127"/>
                          <a:cs typeface="Times New Roman" panose="02020603050405020304" pitchFamily="18" charset="0"/>
                        </a:rPr>
                        <a:t>w</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i="1" kern="100">
                          <a:effectLst/>
                          <a:latin typeface="Times New Roman" panose="02020603050405020304" pitchFamily="18" charset="0"/>
                          <a:ea typeface="맑은 고딕" panose="020B0503020000020004" pitchFamily="50" charset="-127"/>
                          <a:cs typeface="Times New Roman" panose="02020603050405020304" pitchFamily="18" charset="0"/>
                        </a:rPr>
                        <a:t>h</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i="1" kern="100">
                          <a:effectLst/>
                          <a:latin typeface="Times New Roman" panose="02020603050405020304" pitchFamily="18" charset="0"/>
                          <a:ea typeface="CSongGB18030C-Light" panose="020A0304000101010101" pitchFamily="18" charset="-122"/>
                          <a:cs typeface="Times New Roman" panose="02020603050405020304" pitchFamily="18" charset="0"/>
                        </a:rPr>
                        <a:t>opt</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i="1" kern="100">
                          <a:effectLst/>
                          <a:latin typeface="Times New Roman" panose="02020603050405020304" pitchFamily="18" charset="0"/>
                          <a:ea typeface="맑은 고딕" panose="020B0503020000020004" pitchFamily="50" charset="-127"/>
                          <a:cs typeface="Times New Roman" panose="02020603050405020304" pitchFamily="18" charset="0"/>
                        </a:rPr>
                        <a:t>lr</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train steps</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train time (s)</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a:effectLst/>
                          <a:latin typeface="Times New Roman" panose="02020603050405020304" pitchFamily="18" charset="0"/>
                          <a:ea typeface="맑은 고딕" panose="020B0503020000020004" pitchFamily="50" charset="-127"/>
                          <a:cs typeface="Times New Roman" panose="02020603050405020304" pitchFamily="18" charset="0"/>
                        </a:rPr>
                        <a:t>test acc</a:t>
                      </a:r>
                      <a:endParaRPr lang="ko-KR" sz="18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5430742"/>
                  </a:ext>
                </a:extLst>
              </a:tr>
              <a:tr h="253219">
                <a:tc>
                  <a:txBody>
                    <a:bodyPr/>
                    <a:lstStyle/>
                    <a:p>
                      <a:pPr algn="ctr" latinLnBrk="1">
                        <a:lnSpc>
                          <a:spcPct val="107000"/>
                        </a:lnSpc>
                        <a:spcAft>
                          <a:spcPts val="0"/>
                        </a:spcAft>
                      </a:pPr>
                      <a:r>
                        <a:rPr lang="en-US"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tuned</a:t>
                      </a:r>
                    </a:p>
                    <a:p>
                      <a:pPr algn="ctr" latinLnBrk="1">
                        <a:lnSpc>
                          <a:spcPct val="107000"/>
                        </a:lnSpc>
                        <a:spcAft>
                          <a:spcPts val="0"/>
                        </a:spcAft>
                      </a:pPr>
                      <a:r>
                        <a:rPr lang="en-US" altLang="ko-KR" sz="14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+reverse input</a:t>
                      </a:r>
                      <a:r>
                        <a:rPr lang="en-US" altLang="ko-KR" sz="1400" kern="100" dirty="0" smtClean="0">
                          <a:effectLst/>
                          <a:latin typeface="Times New Roman" panose="02020603050405020304" pitchFamily="18" charset="0"/>
                          <a:ea typeface="+mn-ea"/>
                          <a:cs typeface="Times New Roman" panose="02020603050405020304" pitchFamily="18" charset="0"/>
                        </a:rPr>
                        <a:t> +attention</a:t>
                      </a:r>
                      <a:endParaRPr lang="ko-KR" sz="14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altLang="ko-KR"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32</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256</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Adam</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0.01 </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a:effectLst/>
                          <a:latin typeface="Times New Roman" panose="02020603050405020304" pitchFamily="18" charset="0"/>
                          <a:ea typeface="맑은 고딕" panose="020B0503020000020004" pitchFamily="50" charset="-127"/>
                          <a:cs typeface="Times New Roman" panose="02020603050405020304" pitchFamily="18" charset="0"/>
                        </a:rPr>
                        <a:t>350</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740.399</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0"/>
                        </a:spcAft>
                      </a:pPr>
                      <a:r>
                        <a:rPr lang="en-US" sz="1800" kern="100" dirty="0" smtClean="0">
                          <a:effectLst/>
                          <a:latin typeface="Times New Roman" panose="02020603050405020304" pitchFamily="18" charset="0"/>
                          <a:ea typeface="맑은 고딕" panose="020B0503020000020004" pitchFamily="50" charset="-127"/>
                          <a:cs typeface="Times New Roman" panose="02020603050405020304" pitchFamily="18" charset="0"/>
                        </a:rPr>
                        <a:t>0.953</a:t>
                      </a:r>
                      <a:endParaRPr 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50455"/>
                  </a:ext>
                </a:extLst>
              </a:tr>
            </a:tbl>
          </a:graphicData>
        </a:graphic>
      </p:graphicFrame>
      <p:pic>
        <p:nvPicPr>
          <p:cNvPr id="7" name="그림 6"/>
          <p:cNvPicPr>
            <a:picLocks noChangeAspect="1"/>
          </p:cNvPicPr>
          <p:nvPr/>
        </p:nvPicPr>
        <p:blipFill>
          <a:blip r:embed="rId3"/>
          <a:stretch>
            <a:fillRect/>
          </a:stretch>
        </p:blipFill>
        <p:spPr>
          <a:xfrm>
            <a:off x="6096000" y="221827"/>
            <a:ext cx="4622772" cy="3167693"/>
          </a:xfrm>
          <a:prstGeom prst="rect">
            <a:avLst/>
          </a:prstGeom>
        </p:spPr>
      </p:pic>
    </p:spTree>
    <p:extLst>
      <p:ext uri="{BB962C8B-B14F-4D97-AF65-F5344CB8AC3E}">
        <p14:creationId xmlns:p14="http://schemas.microsoft.com/office/powerpoint/2010/main" val="9070601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2985</TotalTime>
  <Words>1228</Words>
  <Application>Microsoft Office PowerPoint</Application>
  <PresentationFormat>와이드스크린</PresentationFormat>
  <Paragraphs>603</Paragraphs>
  <Slides>15</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15</vt:i4>
      </vt:variant>
    </vt:vector>
  </HeadingPairs>
  <TitlesOfParts>
    <vt:vector size="22" baseType="lpstr">
      <vt:lpstr>CSongGB18030C-Light</vt:lpstr>
      <vt:lpstr>맑은 고딕</vt:lpstr>
      <vt:lpstr>Arial</vt:lpstr>
      <vt:lpstr>Cambria Math</vt:lpstr>
      <vt:lpstr>times</vt:lpstr>
      <vt:lpstr>Times New Roman</vt:lpstr>
      <vt:lpstr>Office 테마</vt:lpstr>
      <vt:lpstr>Deep Learning from Scratch</vt:lpstr>
      <vt:lpstr>1. Multilayer Perceptron (MLP)</vt:lpstr>
      <vt:lpstr>PowerPoint 프레젠테이션</vt:lpstr>
      <vt:lpstr>PowerPoint 프레젠테이션</vt:lpstr>
      <vt:lpstr>Loshchilov et al.  “Decoupled Weight Decay Regularization”</vt:lpstr>
      <vt:lpstr>2. Convolutional Neural Network (CNN)</vt:lpstr>
      <vt:lpstr>PowerPoint 프레젠테이션</vt:lpstr>
      <vt:lpstr>PowerPoint 프레젠테이션</vt:lpstr>
      <vt:lpstr>3. Recurrent Neural Network (RNN)</vt:lpstr>
      <vt:lpstr>PowerPoint 프레젠테이션</vt:lpstr>
      <vt:lpstr>PowerPoint 프레젠테이션</vt:lpstr>
      <vt:lpstr>4. Sequence to Sequence (seq2seq)</vt:lpstr>
      <vt:lpstr>PowerPoint 프레젠테이션</vt:lpstr>
      <vt:lpstr> Gao Huang et al. “Densely Connected Convolutional Networks”  Kyunghyun Cho et al. “Learning Phrase Representations using RNN Encoder–Decoder for Statistical Machine Translation” </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from Scratch</dc:title>
  <dc:creator>limj</dc:creator>
  <cp:lastModifiedBy>limj</cp:lastModifiedBy>
  <cp:revision>69</cp:revision>
  <dcterms:created xsi:type="dcterms:W3CDTF">2021-02-27T04:43:44Z</dcterms:created>
  <dcterms:modified xsi:type="dcterms:W3CDTF">2021-03-03T01:53:48Z</dcterms:modified>
</cp:coreProperties>
</file>